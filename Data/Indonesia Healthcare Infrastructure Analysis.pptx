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8"/>
  </p:notesMasterIdLst>
  <p:sldIdLst>
    <p:sldId id="256" r:id="rId2"/>
    <p:sldId id="311" r:id="rId3"/>
    <p:sldId id="313" r:id="rId4"/>
    <p:sldId id="314" r:id="rId5"/>
    <p:sldId id="315" r:id="rId6"/>
    <p:sldId id="316" r:id="rId7"/>
    <p:sldId id="320" r:id="rId8"/>
    <p:sldId id="317" r:id="rId9"/>
    <p:sldId id="319" r:id="rId10"/>
    <p:sldId id="321" r:id="rId11"/>
    <p:sldId id="264" r:id="rId12"/>
    <p:sldId id="322" r:id="rId13"/>
    <p:sldId id="324" r:id="rId14"/>
    <p:sldId id="323" r:id="rId15"/>
    <p:sldId id="282" r:id="rId16"/>
    <p:sldId id="325" r:id="rId17"/>
  </p:sldIdLst>
  <p:sldSz cx="9144000" cy="5143500" type="screen16x9"/>
  <p:notesSz cx="6858000" cy="9144000"/>
  <p:embeddedFontLst>
    <p:embeddedFont>
      <p:font typeface="Albert Sans" panose="020B0604020202020204" charset="0"/>
      <p:regular r:id="rId19"/>
      <p:bold r:id="rId20"/>
      <p:italic r:id="rId21"/>
      <p:boldItalic r:id="rId22"/>
    </p:embeddedFont>
    <p:embeddedFont>
      <p:font typeface="Alexandria Medium" panose="020B0604020202020204" charset="-78"/>
      <p:regular r:id="rId23"/>
      <p:bold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2A47"/>
    <a:srgbClr val="FFFAF6"/>
    <a:srgbClr val="15110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A91B7F3-994D-4935-96F5-2831B99DDB9D}">
  <a:tblStyle styleId="{BA91B7F3-994D-4935-96F5-2831B99DDB9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794EE09-575A-4CCA-8B22-57579FD86842}"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558abb5fb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2558abb5fb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558abb5fb3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558abb5fb3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46713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25685abcfc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25685abcfc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52731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5703cb3a7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703cb3a7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16964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25703cb3a7b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25703cb3a7b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1231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2572bee519d_0_4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2572bee519d_0_4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293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25685abcfc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25685abcfc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17614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2572bee519d_0_8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2572bee519d_0_8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0070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2572bee519d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2572bee519d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12435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5703cb3a7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703cb3a7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72618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5703cb3a7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703cb3a7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5703cb3a7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703cb3a7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83336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5703cb3a7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703cb3a7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93367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5703cb3a7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703cb3a7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94615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2572bee519d_0_8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2572bee519d_0_8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2572bee519d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2572bee519d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04756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l="-55210" t="50562" r="55210" b="-6812"/>
          <a:stretch/>
        </p:blipFill>
        <p:spPr>
          <a:xfrm rot="10800000">
            <a:off x="0" y="0"/>
            <a:ext cx="9144000" cy="5143500"/>
          </a:xfrm>
          <a:prstGeom prst="rect">
            <a:avLst/>
          </a:prstGeom>
          <a:noFill/>
          <a:ln>
            <a:noFill/>
          </a:ln>
        </p:spPr>
      </p:pic>
      <p:pic>
        <p:nvPicPr>
          <p:cNvPr id="10" name="Google Shape;10;p2"/>
          <p:cNvPicPr preferRelativeResize="0"/>
          <p:nvPr/>
        </p:nvPicPr>
        <p:blipFill rotWithShape="1">
          <a:blip r:embed="rId2">
            <a:alphaModFix/>
          </a:blip>
          <a:srcRect l="-19690" t="41478" r="19690" b="2272"/>
          <a:stretch/>
        </p:blipFill>
        <p:spPr>
          <a:xfrm>
            <a:off x="0" y="0"/>
            <a:ext cx="9144000" cy="5143500"/>
          </a:xfrm>
          <a:prstGeom prst="rect">
            <a:avLst/>
          </a:prstGeom>
          <a:noFill/>
          <a:ln>
            <a:noFill/>
          </a:ln>
        </p:spPr>
      </p:pic>
      <p:sp>
        <p:nvSpPr>
          <p:cNvPr id="11" name="Google Shape;11;p2"/>
          <p:cNvSpPr txBox="1">
            <a:spLocks noGrp="1"/>
          </p:cNvSpPr>
          <p:nvPr>
            <p:ph type="ctrTitle"/>
          </p:nvPr>
        </p:nvSpPr>
        <p:spPr>
          <a:xfrm>
            <a:off x="711750" y="1958600"/>
            <a:ext cx="4280100" cy="2649900"/>
          </a:xfrm>
          <a:prstGeom prst="rect">
            <a:avLst/>
          </a:prstGeom>
        </p:spPr>
        <p:txBody>
          <a:bodyPr spcFirstLastPara="1" wrap="square" lIns="91425" tIns="91425" rIns="91425" bIns="91425" anchor="t" anchorCtr="0">
            <a:noAutofit/>
          </a:bodyPr>
          <a:lstStyle>
            <a:lvl1pPr lvl="0">
              <a:lnSpc>
                <a:spcPct val="90000"/>
              </a:lnSpc>
              <a:spcBef>
                <a:spcPts val="0"/>
              </a:spcBef>
              <a:spcAft>
                <a:spcPts val="0"/>
              </a:spcAft>
              <a:buSzPts val="5200"/>
              <a:buNone/>
              <a:defRPr sz="9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4572000" y="535000"/>
            <a:ext cx="3860400" cy="3882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1"/>
        </a:solidFill>
        <a:effectLst/>
      </p:bgPr>
    </p:bg>
    <p:spTree>
      <p:nvGrpSpPr>
        <p:cNvPr id="1" name="Shape 13"/>
        <p:cNvGrpSpPr/>
        <p:nvPr/>
      </p:nvGrpSpPr>
      <p:grpSpPr>
        <a:xfrm>
          <a:off x="0" y="0"/>
          <a:ext cx="0" cy="0"/>
          <a:chOff x="0" y="0"/>
          <a:chExt cx="0" cy="0"/>
        </a:xfrm>
      </p:grpSpPr>
      <p:pic>
        <p:nvPicPr>
          <p:cNvPr id="14" name="Google Shape;14;p3"/>
          <p:cNvPicPr preferRelativeResize="0"/>
          <p:nvPr/>
        </p:nvPicPr>
        <p:blipFill rotWithShape="1">
          <a:blip r:embed="rId2">
            <a:alphaModFix/>
          </a:blip>
          <a:srcRect l="-55210" t="50562" r="55210" b="-6812"/>
          <a:stretch/>
        </p:blipFill>
        <p:spPr>
          <a:xfrm flipH="1">
            <a:off x="0" y="0"/>
            <a:ext cx="9144000" cy="5143500"/>
          </a:xfrm>
          <a:prstGeom prst="rect">
            <a:avLst/>
          </a:prstGeom>
          <a:noFill/>
          <a:ln>
            <a:noFill/>
          </a:ln>
        </p:spPr>
      </p:pic>
      <p:pic>
        <p:nvPicPr>
          <p:cNvPr id="15" name="Google Shape;15;p3"/>
          <p:cNvPicPr preferRelativeResize="0"/>
          <p:nvPr/>
        </p:nvPicPr>
        <p:blipFill rotWithShape="1">
          <a:blip r:embed="rId3">
            <a:alphaModFix/>
          </a:blip>
          <a:srcRect l="36284" t="30" r="-6" b="-40"/>
          <a:stretch/>
        </p:blipFill>
        <p:spPr>
          <a:xfrm rot="10800000">
            <a:off x="5864950" y="-3275"/>
            <a:ext cx="3279050" cy="5146775"/>
          </a:xfrm>
          <a:prstGeom prst="rect">
            <a:avLst/>
          </a:prstGeom>
          <a:noFill/>
          <a:ln>
            <a:noFill/>
          </a:ln>
        </p:spPr>
      </p:pic>
      <p:sp>
        <p:nvSpPr>
          <p:cNvPr id="16" name="Google Shape;16;p3"/>
          <p:cNvSpPr txBox="1">
            <a:spLocks noGrp="1"/>
          </p:cNvSpPr>
          <p:nvPr>
            <p:ph type="title"/>
          </p:nvPr>
        </p:nvSpPr>
        <p:spPr>
          <a:xfrm>
            <a:off x="715100" y="3328050"/>
            <a:ext cx="7708800" cy="1253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7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715100" y="2074250"/>
            <a:ext cx="7708800" cy="1253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6000"/>
              <a:buNone/>
              <a:defRPr sz="7000">
                <a:solidFill>
                  <a:schemeClr val="lt2"/>
                </a:solidFill>
              </a:defRPr>
            </a:lvl1pPr>
            <a:lvl2pPr lvl="1" algn="ctr" rtl="0">
              <a:spcBef>
                <a:spcPts val="0"/>
              </a:spcBef>
              <a:spcAft>
                <a:spcPts val="0"/>
              </a:spcAft>
              <a:buClr>
                <a:schemeClr val="lt2"/>
              </a:buClr>
              <a:buSzPts val="6000"/>
              <a:buNone/>
              <a:defRPr sz="6000">
                <a:solidFill>
                  <a:schemeClr val="lt2"/>
                </a:solidFill>
              </a:defRPr>
            </a:lvl2pPr>
            <a:lvl3pPr lvl="2" algn="ctr" rtl="0">
              <a:spcBef>
                <a:spcPts val="0"/>
              </a:spcBef>
              <a:spcAft>
                <a:spcPts val="0"/>
              </a:spcAft>
              <a:buClr>
                <a:schemeClr val="lt2"/>
              </a:buClr>
              <a:buSzPts val="6000"/>
              <a:buNone/>
              <a:defRPr sz="6000">
                <a:solidFill>
                  <a:schemeClr val="lt2"/>
                </a:solidFill>
              </a:defRPr>
            </a:lvl3pPr>
            <a:lvl4pPr lvl="3" algn="ctr" rtl="0">
              <a:spcBef>
                <a:spcPts val="0"/>
              </a:spcBef>
              <a:spcAft>
                <a:spcPts val="0"/>
              </a:spcAft>
              <a:buClr>
                <a:schemeClr val="lt2"/>
              </a:buClr>
              <a:buSzPts val="6000"/>
              <a:buNone/>
              <a:defRPr sz="6000">
                <a:solidFill>
                  <a:schemeClr val="lt2"/>
                </a:solidFill>
              </a:defRPr>
            </a:lvl4pPr>
            <a:lvl5pPr lvl="4" algn="ctr" rtl="0">
              <a:spcBef>
                <a:spcPts val="0"/>
              </a:spcBef>
              <a:spcAft>
                <a:spcPts val="0"/>
              </a:spcAft>
              <a:buClr>
                <a:schemeClr val="lt2"/>
              </a:buClr>
              <a:buSzPts val="6000"/>
              <a:buNone/>
              <a:defRPr sz="6000">
                <a:solidFill>
                  <a:schemeClr val="lt2"/>
                </a:solidFill>
              </a:defRPr>
            </a:lvl5pPr>
            <a:lvl6pPr lvl="5" algn="ctr" rtl="0">
              <a:spcBef>
                <a:spcPts val="0"/>
              </a:spcBef>
              <a:spcAft>
                <a:spcPts val="0"/>
              </a:spcAft>
              <a:buClr>
                <a:schemeClr val="lt2"/>
              </a:buClr>
              <a:buSzPts val="6000"/>
              <a:buNone/>
              <a:defRPr sz="6000">
                <a:solidFill>
                  <a:schemeClr val="lt2"/>
                </a:solidFill>
              </a:defRPr>
            </a:lvl6pPr>
            <a:lvl7pPr lvl="6" algn="ctr" rtl="0">
              <a:spcBef>
                <a:spcPts val="0"/>
              </a:spcBef>
              <a:spcAft>
                <a:spcPts val="0"/>
              </a:spcAft>
              <a:buClr>
                <a:schemeClr val="lt2"/>
              </a:buClr>
              <a:buSzPts val="6000"/>
              <a:buNone/>
              <a:defRPr sz="6000">
                <a:solidFill>
                  <a:schemeClr val="lt2"/>
                </a:solidFill>
              </a:defRPr>
            </a:lvl7pPr>
            <a:lvl8pPr lvl="7" algn="ctr" rtl="0">
              <a:spcBef>
                <a:spcPts val="0"/>
              </a:spcBef>
              <a:spcAft>
                <a:spcPts val="0"/>
              </a:spcAft>
              <a:buClr>
                <a:schemeClr val="lt2"/>
              </a:buClr>
              <a:buSzPts val="6000"/>
              <a:buNone/>
              <a:defRPr sz="6000">
                <a:solidFill>
                  <a:schemeClr val="lt2"/>
                </a:solidFill>
              </a:defRPr>
            </a:lvl8pPr>
            <a:lvl9pPr lvl="8" algn="ctr" rtl="0">
              <a:spcBef>
                <a:spcPts val="0"/>
              </a:spcBef>
              <a:spcAft>
                <a:spcPts val="0"/>
              </a:spcAft>
              <a:buClr>
                <a:schemeClr val="lt2"/>
              </a:buClr>
              <a:buSzPts val="6000"/>
              <a:buNone/>
              <a:defRPr sz="6000">
                <a:solidFill>
                  <a:schemeClr val="lt2"/>
                </a:solidFill>
              </a:defRPr>
            </a:lvl9pPr>
          </a:lstStyle>
          <a:p>
            <a:r>
              <a:t>xx%</a:t>
            </a:r>
          </a:p>
        </p:txBody>
      </p:sp>
      <p:sp>
        <p:nvSpPr>
          <p:cNvPr id="18" name="Google Shape;18;p3"/>
          <p:cNvSpPr txBox="1">
            <a:spLocks noGrp="1"/>
          </p:cNvSpPr>
          <p:nvPr>
            <p:ph type="subTitle" idx="1"/>
          </p:nvPr>
        </p:nvSpPr>
        <p:spPr>
          <a:xfrm>
            <a:off x="4572000" y="535000"/>
            <a:ext cx="3856800" cy="388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lt1"/>
        </a:solidFill>
        <a:effectLst/>
      </p:bgPr>
    </p:bg>
    <p:spTree>
      <p:nvGrpSpPr>
        <p:cNvPr id="1" name="Shape 40"/>
        <p:cNvGrpSpPr/>
        <p:nvPr/>
      </p:nvGrpSpPr>
      <p:grpSpPr>
        <a:xfrm>
          <a:off x="0" y="0"/>
          <a:ext cx="0" cy="0"/>
          <a:chOff x="0" y="0"/>
          <a:chExt cx="0" cy="0"/>
        </a:xfrm>
      </p:grpSpPr>
      <p:pic>
        <p:nvPicPr>
          <p:cNvPr id="41" name="Google Shape;41;p9"/>
          <p:cNvPicPr preferRelativeResize="0"/>
          <p:nvPr/>
        </p:nvPicPr>
        <p:blipFill rotWithShape="1">
          <a:blip r:embed="rId2">
            <a:alphaModFix/>
          </a:blip>
          <a:srcRect l="7044" t="47434" r="-48487" b="-26995"/>
          <a:stretch/>
        </p:blipFill>
        <p:spPr>
          <a:xfrm rot="10800000" flipH="1">
            <a:off x="-12" y="-2285"/>
            <a:ext cx="9144000" cy="5148070"/>
          </a:xfrm>
          <a:prstGeom prst="rect">
            <a:avLst/>
          </a:prstGeom>
          <a:noFill/>
          <a:ln>
            <a:noFill/>
          </a:ln>
        </p:spPr>
      </p:pic>
      <p:sp>
        <p:nvSpPr>
          <p:cNvPr id="42" name="Google Shape;42;p9"/>
          <p:cNvSpPr txBox="1">
            <a:spLocks noGrp="1"/>
          </p:cNvSpPr>
          <p:nvPr>
            <p:ph type="title"/>
          </p:nvPr>
        </p:nvSpPr>
        <p:spPr>
          <a:xfrm>
            <a:off x="720000" y="535000"/>
            <a:ext cx="5925300" cy="12504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7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3" name="Google Shape;43;p9"/>
          <p:cNvSpPr txBox="1">
            <a:spLocks noGrp="1"/>
          </p:cNvSpPr>
          <p:nvPr>
            <p:ph type="subTitle" idx="1"/>
          </p:nvPr>
        </p:nvSpPr>
        <p:spPr>
          <a:xfrm>
            <a:off x="4572000" y="3358100"/>
            <a:ext cx="3856800" cy="125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lt1"/>
        </a:solidFill>
        <a:effectLst/>
      </p:bgPr>
    </p:bg>
    <p:spTree>
      <p:nvGrpSpPr>
        <p:cNvPr id="1" name="Shape 47"/>
        <p:cNvGrpSpPr/>
        <p:nvPr/>
      </p:nvGrpSpPr>
      <p:grpSpPr>
        <a:xfrm>
          <a:off x="0" y="0"/>
          <a:ext cx="0" cy="0"/>
          <a:chOff x="0" y="0"/>
          <a:chExt cx="0" cy="0"/>
        </a:xfrm>
      </p:grpSpPr>
      <p:pic>
        <p:nvPicPr>
          <p:cNvPr id="48" name="Google Shape;48;p11"/>
          <p:cNvPicPr preferRelativeResize="0"/>
          <p:nvPr/>
        </p:nvPicPr>
        <p:blipFill rotWithShape="1">
          <a:blip r:embed="rId2">
            <a:alphaModFix/>
          </a:blip>
          <a:srcRect l="-55210" t="50562" r="55210" b="-6812"/>
          <a:stretch/>
        </p:blipFill>
        <p:spPr>
          <a:xfrm flipH="1">
            <a:off x="0" y="0"/>
            <a:ext cx="9144000" cy="5143500"/>
          </a:xfrm>
          <a:prstGeom prst="rect">
            <a:avLst/>
          </a:prstGeom>
          <a:noFill/>
          <a:ln>
            <a:noFill/>
          </a:ln>
        </p:spPr>
      </p:pic>
      <p:pic>
        <p:nvPicPr>
          <p:cNvPr id="49" name="Google Shape;49;p11"/>
          <p:cNvPicPr preferRelativeResize="0"/>
          <p:nvPr/>
        </p:nvPicPr>
        <p:blipFill rotWithShape="1">
          <a:blip r:embed="rId2">
            <a:alphaModFix/>
          </a:blip>
          <a:srcRect l="-55210" t="50562" r="55210" b="-6812"/>
          <a:stretch/>
        </p:blipFill>
        <p:spPr>
          <a:xfrm rot="10800000" flipH="1">
            <a:off x="0" y="0"/>
            <a:ext cx="9144000" cy="5143500"/>
          </a:xfrm>
          <a:prstGeom prst="rect">
            <a:avLst/>
          </a:prstGeom>
          <a:noFill/>
          <a:ln>
            <a:noFill/>
          </a:ln>
        </p:spPr>
      </p:pic>
      <p:sp>
        <p:nvSpPr>
          <p:cNvPr id="50" name="Google Shape;50;p11"/>
          <p:cNvSpPr txBox="1">
            <a:spLocks noGrp="1"/>
          </p:cNvSpPr>
          <p:nvPr>
            <p:ph type="title" hasCustomPrompt="1"/>
          </p:nvPr>
        </p:nvSpPr>
        <p:spPr>
          <a:xfrm>
            <a:off x="715100" y="3068600"/>
            <a:ext cx="7713900" cy="1539900"/>
          </a:xfrm>
          <a:prstGeom prst="rect">
            <a:avLst/>
          </a:prstGeom>
        </p:spPr>
        <p:txBody>
          <a:bodyPr spcFirstLastPara="1" wrap="square" lIns="91425" tIns="91425" rIns="91425" bIns="91425" anchor="t" anchorCtr="0">
            <a:noAutofit/>
          </a:bodyPr>
          <a:lstStyle>
            <a:lvl1pPr lvl="0">
              <a:spcBef>
                <a:spcPts val="0"/>
              </a:spcBef>
              <a:spcAft>
                <a:spcPts val="0"/>
              </a:spcAft>
              <a:buSzPts val="9600"/>
              <a:buNone/>
              <a:defRPr sz="9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1" name="Google Shape;51;p11"/>
          <p:cNvSpPr txBox="1">
            <a:spLocks noGrp="1"/>
          </p:cNvSpPr>
          <p:nvPr>
            <p:ph type="subTitle" idx="1"/>
          </p:nvPr>
        </p:nvSpPr>
        <p:spPr>
          <a:xfrm>
            <a:off x="4572000" y="535000"/>
            <a:ext cx="3856800" cy="388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bg>
      <p:bgPr>
        <a:solidFill>
          <a:schemeClr val="lt1"/>
        </a:solidFill>
        <a:effectLst/>
      </p:bgPr>
    </p:bg>
    <p:spTree>
      <p:nvGrpSpPr>
        <p:cNvPr id="1" name="Shape 93"/>
        <p:cNvGrpSpPr/>
        <p:nvPr/>
      </p:nvGrpSpPr>
      <p:grpSpPr>
        <a:xfrm>
          <a:off x="0" y="0"/>
          <a:ext cx="0" cy="0"/>
          <a:chOff x="0" y="0"/>
          <a:chExt cx="0" cy="0"/>
        </a:xfrm>
      </p:grpSpPr>
      <p:pic>
        <p:nvPicPr>
          <p:cNvPr id="94" name="Google Shape;94;p19"/>
          <p:cNvPicPr preferRelativeResize="0"/>
          <p:nvPr/>
        </p:nvPicPr>
        <p:blipFill rotWithShape="1">
          <a:blip r:embed="rId2">
            <a:alphaModFix/>
          </a:blip>
          <a:srcRect l="-50000" t="49601" r="50000" b="-5850"/>
          <a:stretch/>
        </p:blipFill>
        <p:spPr>
          <a:xfrm>
            <a:off x="0" y="0"/>
            <a:ext cx="9144000" cy="5143500"/>
          </a:xfrm>
          <a:prstGeom prst="rect">
            <a:avLst/>
          </a:prstGeom>
          <a:noFill/>
          <a:ln>
            <a:noFill/>
          </a:ln>
        </p:spPr>
      </p:pic>
      <p:sp>
        <p:nvSpPr>
          <p:cNvPr id="95" name="Google Shape;95;p19"/>
          <p:cNvSpPr txBox="1">
            <a:spLocks noGrp="1"/>
          </p:cNvSpPr>
          <p:nvPr>
            <p:ph type="subTitle" idx="1"/>
          </p:nvPr>
        </p:nvSpPr>
        <p:spPr>
          <a:xfrm>
            <a:off x="715100" y="2046500"/>
            <a:ext cx="5930100" cy="72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6" name="Google Shape;96;p19"/>
          <p:cNvSpPr txBox="1">
            <a:spLocks noGrp="1"/>
          </p:cNvSpPr>
          <p:nvPr>
            <p:ph type="title"/>
          </p:nvPr>
        </p:nvSpPr>
        <p:spPr>
          <a:xfrm>
            <a:off x="715100" y="535000"/>
            <a:ext cx="7713900" cy="548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a:endParaRPr/>
          </a:p>
        </p:txBody>
      </p:sp>
      <p:sp>
        <p:nvSpPr>
          <p:cNvPr id="97" name="Google Shape;97;p19"/>
          <p:cNvSpPr txBox="1">
            <a:spLocks noGrp="1"/>
          </p:cNvSpPr>
          <p:nvPr>
            <p:ph type="subTitle" idx="2"/>
          </p:nvPr>
        </p:nvSpPr>
        <p:spPr>
          <a:xfrm>
            <a:off x="715100" y="3299000"/>
            <a:ext cx="5930100" cy="72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8" name="Google Shape;98;p19"/>
          <p:cNvSpPr txBox="1">
            <a:spLocks noGrp="1"/>
          </p:cNvSpPr>
          <p:nvPr>
            <p:ph type="subTitle" idx="3"/>
          </p:nvPr>
        </p:nvSpPr>
        <p:spPr>
          <a:xfrm>
            <a:off x="715100" y="1666700"/>
            <a:ext cx="5930100" cy="456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99" name="Google Shape;99;p19"/>
          <p:cNvSpPr txBox="1">
            <a:spLocks noGrp="1"/>
          </p:cNvSpPr>
          <p:nvPr>
            <p:ph type="subTitle" idx="4"/>
          </p:nvPr>
        </p:nvSpPr>
        <p:spPr>
          <a:xfrm>
            <a:off x="715100" y="2919200"/>
            <a:ext cx="5930100" cy="456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p:cSld name="BLANK_1_1_1_2">
    <p:bg>
      <p:bgPr>
        <a:solidFill>
          <a:schemeClr val="lt1"/>
        </a:solidFill>
        <a:effectLst/>
      </p:bgPr>
    </p:bg>
    <p:spTree>
      <p:nvGrpSpPr>
        <p:cNvPr id="1" name="Shape 100"/>
        <p:cNvGrpSpPr/>
        <p:nvPr/>
      </p:nvGrpSpPr>
      <p:grpSpPr>
        <a:xfrm>
          <a:off x="0" y="0"/>
          <a:ext cx="0" cy="0"/>
          <a:chOff x="0" y="0"/>
          <a:chExt cx="0" cy="0"/>
        </a:xfrm>
      </p:grpSpPr>
      <p:pic>
        <p:nvPicPr>
          <p:cNvPr id="101" name="Google Shape;101;p20"/>
          <p:cNvPicPr preferRelativeResize="0"/>
          <p:nvPr/>
        </p:nvPicPr>
        <p:blipFill rotWithShape="1">
          <a:blip r:embed="rId2">
            <a:alphaModFix/>
          </a:blip>
          <a:srcRect l="-235243" t="44962" r="44461" b="-108521"/>
          <a:stretch/>
        </p:blipFill>
        <p:spPr>
          <a:xfrm rot="10800000">
            <a:off x="-10150" y="0"/>
            <a:ext cx="9154150" cy="5148375"/>
          </a:xfrm>
          <a:prstGeom prst="rect">
            <a:avLst/>
          </a:prstGeom>
          <a:noFill/>
          <a:ln>
            <a:noFill/>
          </a:ln>
        </p:spPr>
      </p:pic>
      <p:pic>
        <p:nvPicPr>
          <p:cNvPr id="102" name="Google Shape;102;p20"/>
          <p:cNvPicPr preferRelativeResize="0"/>
          <p:nvPr/>
        </p:nvPicPr>
        <p:blipFill rotWithShape="1">
          <a:blip r:embed="rId2">
            <a:alphaModFix/>
          </a:blip>
          <a:srcRect l="-235243" t="44962" r="44461" b="-108521"/>
          <a:stretch/>
        </p:blipFill>
        <p:spPr>
          <a:xfrm rot="10800000" flipH="1">
            <a:off x="-4572" y="-2437"/>
            <a:ext cx="9153145" cy="5148375"/>
          </a:xfrm>
          <a:prstGeom prst="rect">
            <a:avLst/>
          </a:prstGeom>
          <a:noFill/>
          <a:ln>
            <a:noFill/>
          </a:ln>
        </p:spPr>
      </p:pic>
      <p:sp>
        <p:nvSpPr>
          <p:cNvPr id="103" name="Google Shape;103;p20"/>
          <p:cNvSpPr txBox="1">
            <a:spLocks noGrp="1"/>
          </p:cNvSpPr>
          <p:nvPr>
            <p:ph type="subTitle" idx="1"/>
          </p:nvPr>
        </p:nvSpPr>
        <p:spPr>
          <a:xfrm>
            <a:off x="715100" y="2328775"/>
            <a:ext cx="2131800" cy="145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4" name="Google Shape;104;p20"/>
          <p:cNvSpPr txBox="1">
            <a:spLocks noGrp="1"/>
          </p:cNvSpPr>
          <p:nvPr>
            <p:ph type="title"/>
          </p:nvPr>
        </p:nvSpPr>
        <p:spPr>
          <a:xfrm>
            <a:off x="715100" y="535000"/>
            <a:ext cx="7713900" cy="548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a:endParaRPr/>
          </a:p>
        </p:txBody>
      </p:sp>
      <p:sp>
        <p:nvSpPr>
          <p:cNvPr id="105" name="Google Shape;105;p20"/>
          <p:cNvSpPr txBox="1">
            <a:spLocks noGrp="1"/>
          </p:cNvSpPr>
          <p:nvPr>
            <p:ph type="subTitle" idx="2"/>
          </p:nvPr>
        </p:nvSpPr>
        <p:spPr>
          <a:xfrm>
            <a:off x="715100" y="1666700"/>
            <a:ext cx="2131800" cy="734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106" name="Google Shape;106;p20"/>
          <p:cNvSpPr txBox="1">
            <a:spLocks noGrp="1"/>
          </p:cNvSpPr>
          <p:nvPr>
            <p:ph type="subTitle" idx="3"/>
          </p:nvPr>
        </p:nvSpPr>
        <p:spPr>
          <a:xfrm>
            <a:off x="3506100" y="2328775"/>
            <a:ext cx="2131800" cy="145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7" name="Google Shape;107;p20"/>
          <p:cNvSpPr txBox="1">
            <a:spLocks noGrp="1"/>
          </p:cNvSpPr>
          <p:nvPr>
            <p:ph type="subTitle" idx="4"/>
          </p:nvPr>
        </p:nvSpPr>
        <p:spPr>
          <a:xfrm>
            <a:off x="3506099" y="1666700"/>
            <a:ext cx="2131800" cy="734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108" name="Google Shape;108;p20"/>
          <p:cNvSpPr txBox="1">
            <a:spLocks noGrp="1"/>
          </p:cNvSpPr>
          <p:nvPr>
            <p:ph type="subTitle" idx="5"/>
          </p:nvPr>
        </p:nvSpPr>
        <p:spPr>
          <a:xfrm>
            <a:off x="6297202" y="2328775"/>
            <a:ext cx="2131800" cy="145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9" name="Google Shape;109;p20"/>
          <p:cNvSpPr txBox="1">
            <a:spLocks noGrp="1"/>
          </p:cNvSpPr>
          <p:nvPr>
            <p:ph type="subTitle" idx="6"/>
          </p:nvPr>
        </p:nvSpPr>
        <p:spPr>
          <a:xfrm>
            <a:off x="6297200" y="1666700"/>
            <a:ext cx="2131800" cy="734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six columns">
  <p:cSld name="BLANK_1_1_1_1_1">
    <p:bg>
      <p:bgPr>
        <a:solidFill>
          <a:schemeClr val="lt1"/>
        </a:solidFill>
        <a:effectLst/>
      </p:bgPr>
    </p:bg>
    <p:spTree>
      <p:nvGrpSpPr>
        <p:cNvPr id="1" name="Shape 130"/>
        <p:cNvGrpSpPr/>
        <p:nvPr/>
      </p:nvGrpSpPr>
      <p:grpSpPr>
        <a:xfrm>
          <a:off x="0" y="0"/>
          <a:ext cx="0" cy="0"/>
          <a:chOff x="0" y="0"/>
          <a:chExt cx="0" cy="0"/>
        </a:xfrm>
      </p:grpSpPr>
      <p:sp>
        <p:nvSpPr>
          <p:cNvPr id="131" name="Google Shape;131;p23"/>
          <p:cNvSpPr txBox="1">
            <a:spLocks noGrp="1"/>
          </p:cNvSpPr>
          <p:nvPr>
            <p:ph type="subTitle" idx="1"/>
          </p:nvPr>
        </p:nvSpPr>
        <p:spPr>
          <a:xfrm>
            <a:off x="715100" y="1879700"/>
            <a:ext cx="2432400" cy="8871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2" name="Google Shape;132;p23"/>
          <p:cNvSpPr txBox="1">
            <a:spLocks noGrp="1"/>
          </p:cNvSpPr>
          <p:nvPr>
            <p:ph type="title"/>
          </p:nvPr>
        </p:nvSpPr>
        <p:spPr>
          <a:xfrm>
            <a:off x="715100" y="535000"/>
            <a:ext cx="7713900" cy="548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a:endParaRPr/>
          </a:p>
        </p:txBody>
      </p:sp>
      <p:sp>
        <p:nvSpPr>
          <p:cNvPr id="133" name="Google Shape;133;p23"/>
          <p:cNvSpPr txBox="1">
            <a:spLocks noGrp="1"/>
          </p:cNvSpPr>
          <p:nvPr>
            <p:ph type="subTitle" idx="2"/>
          </p:nvPr>
        </p:nvSpPr>
        <p:spPr>
          <a:xfrm>
            <a:off x="715100" y="3574400"/>
            <a:ext cx="2432400" cy="8871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4" name="Google Shape;134;p23"/>
          <p:cNvSpPr txBox="1">
            <a:spLocks noGrp="1"/>
          </p:cNvSpPr>
          <p:nvPr>
            <p:ph type="subTitle" idx="3"/>
          </p:nvPr>
        </p:nvSpPr>
        <p:spPr>
          <a:xfrm>
            <a:off x="715100" y="1224500"/>
            <a:ext cx="2432400" cy="731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135" name="Google Shape;135;p23"/>
          <p:cNvSpPr txBox="1">
            <a:spLocks noGrp="1"/>
          </p:cNvSpPr>
          <p:nvPr>
            <p:ph type="subTitle" idx="4"/>
          </p:nvPr>
        </p:nvSpPr>
        <p:spPr>
          <a:xfrm>
            <a:off x="715100" y="2919200"/>
            <a:ext cx="2432400" cy="731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136" name="Google Shape;136;p23"/>
          <p:cNvSpPr txBox="1">
            <a:spLocks noGrp="1"/>
          </p:cNvSpPr>
          <p:nvPr>
            <p:ph type="subTitle" idx="5"/>
          </p:nvPr>
        </p:nvSpPr>
        <p:spPr>
          <a:xfrm>
            <a:off x="3355799" y="1879700"/>
            <a:ext cx="2432400" cy="8871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7" name="Google Shape;137;p23"/>
          <p:cNvSpPr txBox="1">
            <a:spLocks noGrp="1"/>
          </p:cNvSpPr>
          <p:nvPr>
            <p:ph type="subTitle" idx="6"/>
          </p:nvPr>
        </p:nvSpPr>
        <p:spPr>
          <a:xfrm>
            <a:off x="3355799" y="3574400"/>
            <a:ext cx="2432400" cy="8871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8" name="Google Shape;138;p23"/>
          <p:cNvSpPr txBox="1">
            <a:spLocks noGrp="1"/>
          </p:cNvSpPr>
          <p:nvPr>
            <p:ph type="subTitle" idx="7"/>
          </p:nvPr>
        </p:nvSpPr>
        <p:spPr>
          <a:xfrm>
            <a:off x="3355800" y="1224500"/>
            <a:ext cx="2432400" cy="731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139" name="Google Shape;139;p23"/>
          <p:cNvSpPr txBox="1">
            <a:spLocks noGrp="1"/>
          </p:cNvSpPr>
          <p:nvPr>
            <p:ph type="subTitle" idx="8"/>
          </p:nvPr>
        </p:nvSpPr>
        <p:spPr>
          <a:xfrm>
            <a:off x="3355800" y="2919200"/>
            <a:ext cx="2432400" cy="731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140" name="Google Shape;140;p23"/>
          <p:cNvSpPr txBox="1">
            <a:spLocks noGrp="1"/>
          </p:cNvSpPr>
          <p:nvPr>
            <p:ph type="subTitle" idx="9"/>
          </p:nvPr>
        </p:nvSpPr>
        <p:spPr>
          <a:xfrm>
            <a:off x="5996501" y="1879700"/>
            <a:ext cx="2432400" cy="8871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1" name="Google Shape;141;p23"/>
          <p:cNvSpPr txBox="1">
            <a:spLocks noGrp="1"/>
          </p:cNvSpPr>
          <p:nvPr>
            <p:ph type="subTitle" idx="13"/>
          </p:nvPr>
        </p:nvSpPr>
        <p:spPr>
          <a:xfrm>
            <a:off x="5996501" y="3574400"/>
            <a:ext cx="2432400" cy="8871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2" name="Google Shape;142;p23"/>
          <p:cNvSpPr txBox="1">
            <a:spLocks noGrp="1"/>
          </p:cNvSpPr>
          <p:nvPr>
            <p:ph type="subTitle" idx="14"/>
          </p:nvPr>
        </p:nvSpPr>
        <p:spPr>
          <a:xfrm>
            <a:off x="5996503" y="1224500"/>
            <a:ext cx="2432400" cy="731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143" name="Google Shape;143;p23"/>
          <p:cNvSpPr txBox="1">
            <a:spLocks noGrp="1"/>
          </p:cNvSpPr>
          <p:nvPr>
            <p:ph type="subTitle" idx="15"/>
          </p:nvPr>
        </p:nvSpPr>
        <p:spPr>
          <a:xfrm>
            <a:off x="5996503" y="2919200"/>
            <a:ext cx="2432400" cy="731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3">
  <p:cSld name="CUSTOM_1_1_1">
    <p:bg>
      <p:bgPr>
        <a:solidFill>
          <a:schemeClr val="lt1"/>
        </a:solidFill>
        <a:effectLst/>
      </p:bgPr>
    </p:bg>
    <p:spTree>
      <p:nvGrpSpPr>
        <p:cNvPr id="1" name="Shape 165"/>
        <p:cNvGrpSpPr/>
        <p:nvPr/>
      </p:nvGrpSpPr>
      <p:grpSpPr>
        <a:xfrm>
          <a:off x="0" y="0"/>
          <a:ext cx="0" cy="0"/>
          <a:chOff x="0" y="0"/>
          <a:chExt cx="0" cy="0"/>
        </a:xfrm>
      </p:grpSpPr>
      <p:pic>
        <p:nvPicPr>
          <p:cNvPr id="166" name="Google Shape;166;p28"/>
          <p:cNvPicPr preferRelativeResize="0"/>
          <p:nvPr/>
        </p:nvPicPr>
        <p:blipFill rotWithShape="1">
          <a:blip r:embed="rId2">
            <a:alphaModFix/>
          </a:blip>
          <a:srcRect l="-6644" t="-11183" r="27549" b="-11171"/>
          <a:stretch/>
        </p:blipFill>
        <p:spPr>
          <a:xfrm>
            <a:off x="5819050" y="0"/>
            <a:ext cx="3324950" cy="5143500"/>
          </a:xfrm>
          <a:prstGeom prst="rect">
            <a:avLst/>
          </a:prstGeom>
          <a:noFill/>
          <a:ln>
            <a:noFill/>
          </a:ln>
        </p:spPr>
      </p:pic>
      <p:sp>
        <p:nvSpPr>
          <p:cNvPr id="167" name="Google Shape;167;p28"/>
          <p:cNvSpPr txBox="1">
            <a:spLocks noGrp="1"/>
          </p:cNvSpPr>
          <p:nvPr>
            <p:ph type="title"/>
          </p:nvPr>
        </p:nvSpPr>
        <p:spPr>
          <a:xfrm>
            <a:off x="715100" y="535000"/>
            <a:ext cx="7713900" cy="548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BLANK_1_1_1_1_1_1_1">
    <p:bg>
      <p:bgPr>
        <a:solidFill>
          <a:schemeClr val="lt1"/>
        </a:solidFill>
        <a:effectLst/>
      </p:bgPr>
    </p:bg>
    <p:spTree>
      <p:nvGrpSpPr>
        <p:cNvPr id="1" name="Shape 174"/>
        <p:cNvGrpSpPr/>
        <p:nvPr/>
      </p:nvGrpSpPr>
      <p:grpSpPr>
        <a:xfrm>
          <a:off x="0" y="0"/>
          <a:ext cx="0" cy="0"/>
          <a:chOff x="0" y="0"/>
          <a:chExt cx="0" cy="0"/>
        </a:xfrm>
      </p:grpSpPr>
      <p:pic>
        <p:nvPicPr>
          <p:cNvPr id="175" name="Google Shape;175;p30"/>
          <p:cNvPicPr preferRelativeResize="0"/>
          <p:nvPr/>
        </p:nvPicPr>
        <p:blipFill rotWithShape="1">
          <a:blip r:embed="rId2">
            <a:alphaModFix/>
          </a:blip>
          <a:srcRect l="-6644" t="13471" r="27549" b="-35825"/>
          <a:stretch/>
        </p:blipFill>
        <p:spPr>
          <a:xfrm flipH="1">
            <a:off x="-10680" y="-2437"/>
            <a:ext cx="3321293" cy="5143500"/>
          </a:xfrm>
          <a:prstGeom prst="rect">
            <a:avLst/>
          </a:prstGeom>
          <a:noFill/>
          <a:ln>
            <a:noFill/>
          </a:ln>
        </p:spPr>
      </p:pic>
      <p:pic>
        <p:nvPicPr>
          <p:cNvPr id="176" name="Google Shape;176;p30"/>
          <p:cNvPicPr preferRelativeResize="0"/>
          <p:nvPr/>
        </p:nvPicPr>
        <p:blipFill rotWithShape="1">
          <a:blip r:embed="rId2">
            <a:alphaModFix/>
          </a:blip>
          <a:srcRect l="-235243" t="44962" r="44461" b="-108521"/>
          <a:stretch/>
        </p:blipFill>
        <p:spPr>
          <a:xfrm rot="10800000" flipH="1">
            <a:off x="-10680" y="-2437"/>
            <a:ext cx="9144080" cy="51483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solidFill>
          <a:schemeClr val="lt1"/>
        </a:solidFill>
        <a:effectLst/>
      </p:bgPr>
    </p:bg>
    <p:spTree>
      <p:nvGrpSpPr>
        <p:cNvPr id="1" name="Shape 177"/>
        <p:cNvGrpSpPr/>
        <p:nvPr/>
      </p:nvGrpSpPr>
      <p:grpSpPr>
        <a:xfrm>
          <a:off x="0" y="0"/>
          <a:ext cx="0" cy="0"/>
          <a:chOff x="0" y="0"/>
          <a:chExt cx="0" cy="0"/>
        </a:xfrm>
      </p:grpSpPr>
      <p:pic>
        <p:nvPicPr>
          <p:cNvPr id="178" name="Google Shape;178;p31"/>
          <p:cNvPicPr preferRelativeResize="0"/>
          <p:nvPr/>
        </p:nvPicPr>
        <p:blipFill rotWithShape="1">
          <a:blip r:embed="rId2">
            <a:alphaModFix/>
          </a:blip>
          <a:srcRect l="-55210" t="50562" r="55210" b="-6812"/>
          <a:stretch/>
        </p:blipFill>
        <p:spPr>
          <a:xfrm>
            <a:off x="0" y="0"/>
            <a:ext cx="9144000" cy="5143500"/>
          </a:xfrm>
          <a:prstGeom prst="rect">
            <a:avLst/>
          </a:prstGeom>
          <a:noFill/>
          <a:ln>
            <a:noFill/>
          </a:ln>
        </p:spPr>
      </p:pic>
      <p:pic>
        <p:nvPicPr>
          <p:cNvPr id="179" name="Google Shape;179;p31"/>
          <p:cNvPicPr preferRelativeResize="0"/>
          <p:nvPr/>
        </p:nvPicPr>
        <p:blipFill rotWithShape="1">
          <a:blip r:embed="rId2">
            <a:alphaModFix/>
          </a:blip>
          <a:srcRect l="-55210" t="50562" r="55210" b="-6812"/>
          <a:stretch/>
        </p:blipFill>
        <p:spPr>
          <a:xfrm rot="10800000">
            <a:off x="0" y="0"/>
            <a:ext cx="9144000" cy="5143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535000"/>
            <a:ext cx="7713900" cy="548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1pPr>
            <a:lvl2pPr lvl="1"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2pPr>
            <a:lvl3pPr lvl="2"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3pPr>
            <a:lvl4pPr lvl="3"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4pPr>
            <a:lvl5pPr lvl="4"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5pPr>
            <a:lvl6pPr lvl="5"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6pPr>
            <a:lvl7pPr lvl="6"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7pPr>
            <a:lvl8pPr lvl="7"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8pPr>
            <a:lvl9pPr lvl="8"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9pPr>
          </a:lstStyle>
          <a:p>
            <a:endParaRPr/>
          </a:p>
        </p:txBody>
      </p:sp>
      <p:sp>
        <p:nvSpPr>
          <p:cNvPr id="7" name="Google Shape;7;p1"/>
          <p:cNvSpPr txBox="1">
            <a:spLocks noGrp="1"/>
          </p:cNvSpPr>
          <p:nvPr>
            <p:ph type="body" idx="1"/>
          </p:nvPr>
        </p:nvSpPr>
        <p:spPr>
          <a:xfrm>
            <a:off x="715100" y="1083700"/>
            <a:ext cx="7713900" cy="35247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marL="914400" lvl="1"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marL="1371600" lvl="2"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marL="1828800" lvl="3"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marL="2286000" lvl="4"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marL="2743200" lvl="5"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marL="3200400" lvl="6"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marL="3657600" lvl="7"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marL="4114800" lvl="8"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5" r:id="rId3"/>
    <p:sldLayoutId id="2147483657" r:id="rId4"/>
    <p:sldLayoutId id="2147483658" r:id="rId5"/>
    <p:sldLayoutId id="2147483665" r:id="rId6"/>
    <p:sldLayoutId id="2147483666" r:id="rId7"/>
    <p:sldLayoutId id="2147483669" r:id="rId8"/>
    <p:sldLayoutId id="2147483674" r:id="rId9"/>
    <p:sldLayoutId id="2147483676" r:id="rId10"/>
    <p:sldLayoutId id="2147483677"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kaggle.com/datasets/muhammadhabibna/hospital-data-in-indonesia/data"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s://www.bps.go.id/en/statistics-table/3/V1ZSbFRUY3lTbFpEYTNsVWNGcDZjek53YkhsNFFUMDkjMw==/population--population-growth-rate--percentage-distribution-of-population--population-density--and-population-sex-ratio-by-province--2018.html"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4.png"/><Relationship Id="rId7" Type="http://schemas.openxmlformats.org/officeDocument/2006/relationships/hyperlink" Target="https://github.com/ranggahadiwibowo/Indonesia-Healthcare-Infrastructure-Analysis/tree/main" TargetMode="External"/><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hyperlink" Target="https://www.bps.go.id/en/statistics-table/3/V1ZSbFRUY3lTbFpEYTNsVWNGcDZjek53YkhsNFFUMDkjMw==/population--population-growth-rate--percentage-distribution-of-population--population-density--and-population-sex-ratio-by-province--2018.html" TargetMode="External"/><Relationship Id="rId5" Type="http://schemas.openxmlformats.org/officeDocument/2006/relationships/hyperlink" Target="https://www.kaggle.com/datasets/muhammadhabibna/hospital-data-in-indonesia/data" TargetMode="Externa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5"/>
          <p:cNvSpPr txBox="1">
            <a:spLocks noGrp="1"/>
          </p:cNvSpPr>
          <p:nvPr>
            <p:ph type="ctrTitle"/>
          </p:nvPr>
        </p:nvSpPr>
        <p:spPr>
          <a:xfrm>
            <a:off x="711750" y="3143250"/>
            <a:ext cx="6497314" cy="14652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000" b="1" dirty="0"/>
              <a:t>Indonesia Healthcare Infrastructure Analysis</a:t>
            </a:r>
            <a:endParaRPr lang="en-US" sz="4000" dirty="0"/>
          </a:p>
        </p:txBody>
      </p:sp>
      <p:sp>
        <p:nvSpPr>
          <p:cNvPr id="4" name="Google Shape;236;p39">
            <a:extLst>
              <a:ext uri="{FF2B5EF4-FFF2-40B4-BE49-F238E27FC236}">
                <a16:creationId xmlns:a16="http://schemas.microsoft.com/office/drawing/2014/main" id="{AA6311F2-FF82-5EBA-9FC6-D87FFBDA47C5}"/>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Personal Project by </a:t>
            </a:r>
            <a:r>
              <a:rPr lang="en-US" b="1" dirty="0"/>
              <a:t>Rangga </a:t>
            </a:r>
            <a:r>
              <a:rPr lang="en-US" b="1" dirty="0" err="1"/>
              <a:t>Hadiwibowo</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6" name="Google Shape;263;p43">
            <a:extLst>
              <a:ext uri="{FF2B5EF4-FFF2-40B4-BE49-F238E27FC236}">
                <a16:creationId xmlns:a16="http://schemas.microsoft.com/office/drawing/2014/main" id="{A942DF0D-0EF8-7AB8-0999-4AA0557C06A0}"/>
              </a:ext>
            </a:extLst>
          </p:cNvPr>
          <p:cNvSpPr txBox="1">
            <a:spLocks/>
          </p:cNvSpPr>
          <p:nvPr/>
        </p:nvSpPr>
        <p:spPr>
          <a:xfrm>
            <a:off x="2982050" y="1200150"/>
            <a:ext cx="5930100" cy="124097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None/>
              <a:defRPr sz="1400" b="0" i="0" u="none" strike="noStrike" cap="none">
                <a:solidFill>
                  <a:schemeClr val="dk1"/>
                </a:solidFill>
                <a:latin typeface="Albert Sans"/>
                <a:ea typeface="Albert Sans"/>
                <a:cs typeface="Albert Sans"/>
                <a:sym typeface="Albert Sans"/>
              </a:defRPr>
            </a:lvl1pPr>
            <a:lvl2pPr marL="914400" marR="0" lvl="1"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2pPr>
            <a:lvl3pPr marL="1371600" marR="0" lvl="2"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3pPr>
            <a:lvl4pPr marL="1828800" marR="0" lvl="3"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4pPr>
            <a:lvl5pPr marL="2286000" marR="0" lvl="4"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5pPr>
            <a:lvl6pPr marL="2743200" marR="0" lvl="5"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6pPr>
            <a:lvl7pPr marL="3200400" marR="0" lvl="6"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7pPr>
            <a:lvl8pPr marL="3657600" marR="0" lvl="7"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8pPr>
            <a:lvl9pPr marL="4114800" marR="0" lvl="8"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9pPr>
          </a:lstStyle>
          <a:p>
            <a:pPr marL="274320" indent="-213360">
              <a:spcBef>
                <a:spcPts val="1600"/>
              </a:spcBef>
              <a:buClr>
                <a:schemeClr val="lt2"/>
              </a:buClr>
              <a:buFont typeface="Albert Sans"/>
              <a:buChar char="■"/>
            </a:pPr>
            <a:r>
              <a:rPr lang="en-US" sz="1400" b="1" dirty="0"/>
              <a:t>Original Title: </a:t>
            </a:r>
            <a:r>
              <a:rPr lang="en-US" sz="1400" i="1" dirty="0"/>
              <a:t>Hospital Data in Indonesia</a:t>
            </a:r>
          </a:p>
          <a:p>
            <a:pPr marL="274320" indent="-213360">
              <a:buClr>
                <a:schemeClr val="lt2"/>
              </a:buClr>
              <a:buFont typeface="Albert Sans"/>
              <a:buChar char="■"/>
            </a:pPr>
            <a:r>
              <a:rPr lang="en-US" sz="1400" b="1" dirty="0"/>
              <a:t>Last Update: </a:t>
            </a:r>
            <a:r>
              <a:rPr lang="en-US" sz="1400" dirty="0"/>
              <a:t>February 1, 2025</a:t>
            </a:r>
            <a:endParaRPr lang="en-US" dirty="0"/>
          </a:p>
          <a:p>
            <a:pPr marL="274320" indent="-213360">
              <a:buClr>
                <a:schemeClr val="lt2"/>
              </a:buClr>
              <a:buFont typeface="Albert Sans"/>
              <a:buChar char="■"/>
            </a:pPr>
            <a:r>
              <a:rPr lang="en-US" sz="1400" b="1" dirty="0"/>
              <a:t>Rows: </a:t>
            </a:r>
            <a:r>
              <a:rPr lang="en-US" sz="1400" dirty="0"/>
              <a:t>3091</a:t>
            </a:r>
            <a:endParaRPr lang="en-US" dirty="0"/>
          </a:p>
          <a:p>
            <a:pPr marL="274320" indent="-213360">
              <a:buClr>
                <a:schemeClr val="lt2"/>
              </a:buClr>
              <a:buFont typeface="Albert Sans"/>
              <a:buChar char="■"/>
            </a:pPr>
            <a:r>
              <a:rPr lang="en-US" sz="1400" b="1" dirty="0"/>
              <a:t>Columns: </a:t>
            </a:r>
            <a:r>
              <a:rPr lang="en-US" sz="1400" dirty="0"/>
              <a:t>12</a:t>
            </a:r>
          </a:p>
        </p:txBody>
      </p:sp>
      <p:sp>
        <p:nvSpPr>
          <p:cNvPr id="7" name="Google Shape;266;p43">
            <a:extLst>
              <a:ext uri="{FF2B5EF4-FFF2-40B4-BE49-F238E27FC236}">
                <a16:creationId xmlns:a16="http://schemas.microsoft.com/office/drawing/2014/main" id="{B12B455F-63E9-FBBD-93E2-18A8782BD0E9}"/>
              </a:ext>
            </a:extLst>
          </p:cNvPr>
          <p:cNvSpPr txBox="1">
            <a:spLocks/>
          </p:cNvSpPr>
          <p:nvPr/>
        </p:nvSpPr>
        <p:spPr>
          <a:xfrm>
            <a:off x="2982050" y="1005773"/>
            <a:ext cx="5930100" cy="4560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buNone/>
            </a:pPr>
            <a:r>
              <a:rPr lang="en-US" b="1" dirty="0">
                <a:hlinkClick r:id="rId3"/>
              </a:rPr>
              <a:t>Hospital Data</a:t>
            </a:r>
            <a:endParaRPr lang="en-US" b="1" dirty="0"/>
          </a:p>
        </p:txBody>
      </p:sp>
      <p:sp>
        <p:nvSpPr>
          <p:cNvPr id="8" name="Google Shape;263;p43">
            <a:extLst>
              <a:ext uri="{FF2B5EF4-FFF2-40B4-BE49-F238E27FC236}">
                <a16:creationId xmlns:a16="http://schemas.microsoft.com/office/drawing/2014/main" id="{C6129C63-B566-45DE-E449-629EDC41E5C0}"/>
              </a:ext>
            </a:extLst>
          </p:cNvPr>
          <p:cNvSpPr txBox="1">
            <a:spLocks/>
          </p:cNvSpPr>
          <p:nvPr/>
        </p:nvSpPr>
        <p:spPr>
          <a:xfrm>
            <a:off x="2982050" y="3020787"/>
            <a:ext cx="5930100" cy="17308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None/>
              <a:defRPr sz="1400" b="0" i="0" u="none" strike="noStrike" cap="none">
                <a:solidFill>
                  <a:schemeClr val="dk1"/>
                </a:solidFill>
                <a:latin typeface="Albert Sans"/>
                <a:ea typeface="Albert Sans"/>
                <a:cs typeface="Albert Sans"/>
                <a:sym typeface="Albert Sans"/>
              </a:defRPr>
            </a:lvl1pPr>
            <a:lvl2pPr marL="914400" marR="0" lvl="1"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2pPr>
            <a:lvl3pPr marL="1371600" marR="0" lvl="2"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3pPr>
            <a:lvl4pPr marL="1828800" marR="0" lvl="3"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4pPr>
            <a:lvl5pPr marL="2286000" marR="0" lvl="4"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5pPr>
            <a:lvl6pPr marL="2743200" marR="0" lvl="5"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6pPr>
            <a:lvl7pPr marL="3200400" marR="0" lvl="6"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7pPr>
            <a:lvl8pPr marL="3657600" marR="0" lvl="7"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8pPr>
            <a:lvl9pPr marL="4114800" marR="0" lvl="8"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9pPr>
          </a:lstStyle>
          <a:p>
            <a:pPr marL="274320" indent="-213360">
              <a:spcBef>
                <a:spcPts val="1600"/>
              </a:spcBef>
              <a:buClr>
                <a:schemeClr val="lt2"/>
              </a:buClr>
              <a:buFont typeface="Albert Sans"/>
              <a:buChar char="■"/>
            </a:pPr>
            <a:r>
              <a:rPr lang="en-US" sz="1400" b="1" dirty="0"/>
              <a:t>Original Title: </a:t>
            </a:r>
            <a:r>
              <a:rPr lang="en-US" sz="1400" i="1" dirty="0"/>
              <a:t>Population, Population Growth Rate, Percentage Distribution of Population, Population Density, and Population Sex Ratio by Province, 2026</a:t>
            </a:r>
          </a:p>
          <a:p>
            <a:pPr marL="274320" indent="-213360">
              <a:buClr>
                <a:schemeClr val="lt2"/>
              </a:buClr>
              <a:buFont typeface="Albert Sans"/>
              <a:buChar char="■"/>
            </a:pPr>
            <a:r>
              <a:rPr lang="en-US" sz="1400" b="1" dirty="0"/>
              <a:t>Last Update: </a:t>
            </a:r>
            <a:r>
              <a:rPr lang="en-US" sz="1400" dirty="0"/>
              <a:t>February 6, 2026</a:t>
            </a:r>
            <a:endParaRPr lang="en-US" dirty="0"/>
          </a:p>
          <a:p>
            <a:pPr marL="274320" indent="-213360">
              <a:buClr>
                <a:schemeClr val="lt2"/>
              </a:buClr>
              <a:buFont typeface="Albert Sans"/>
              <a:buChar char="■"/>
            </a:pPr>
            <a:r>
              <a:rPr lang="en-US" sz="1400" b="1" dirty="0"/>
              <a:t>Rows: </a:t>
            </a:r>
            <a:r>
              <a:rPr lang="en-US" sz="1400" dirty="0"/>
              <a:t>43</a:t>
            </a:r>
            <a:endParaRPr lang="en-US" dirty="0"/>
          </a:p>
          <a:p>
            <a:pPr marL="274320" indent="-213360">
              <a:buClr>
                <a:schemeClr val="lt2"/>
              </a:buClr>
              <a:buFont typeface="Albert Sans"/>
              <a:buChar char="■"/>
            </a:pPr>
            <a:r>
              <a:rPr lang="en-US" sz="1400" b="1" dirty="0"/>
              <a:t>Columns: </a:t>
            </a:r>
            <a:r>
              <a:rPr lang="en-US" sz="1400" dirty="0"/>
              <a:t>6</a:t>
            </a:r>
          </a:p>
          <a:p>
            <a:pPr marL="0" indent="0">
              <a:buNone/>
            </a:pPr>
            <a:endParaRPr lang="en-US" sz="1400" dirty="0"/>
          </a:p>
        </p:txBody>
      </p:sp>
      <p:sp>
        <p:nvSpPr>
          <p:cNvPr id="9" name="Google Shape;266;p43">
            <a:extLst>
              <a:ext uri="{FF2B5EF4-FFF2-40B4-BE49-F238E27FC236}">
                <a16:creationId xmlns:a16="http://schemas.microsoft.com/office/drawing/2014/main" id="{B28B787D-6CEC-E87E-14F1-CB83C9FAEEF3}"/>
              </a:ext>
            </a:extLst>
          </p:cNvPr>
          <p:cNvSpPr txBox="1">
            <a:spLocks/>
          </p:cNvSpPr>
          <p:nvPr/>
        </p:nvSpPr>
        <p:spPr>
          <a:xfrm>
            <a:off x="2982050" y="2813358"/>
            <a:ext cx="5930100" cy="4560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buNone/>
            </a:pPr>
            <a:r>
              <a:rPr lang="en-US" b="1" dirty="0">
                <a:hlinkClick r:id="rId4"/>
              </a:rPr>
              <a:t>Population Data</a:t>
            </a:r>
            <a:endParaRPr lang="en-US" b="1" dirty="0"/>
          </a:p>
        </p:txBody>
      </p:sp>
      <p:pic>
        <p:nvPicPr>
          <p:cNvPr id="10" name="Picture 4">
            <a:extLst>
              <a:ext uri="{FF2B5EF4-FFF2-40B4-BE49-F238E27FC236}">
                <a16:creationId xmlns:a16="http://schemas.microsoft.com/office/drawing/2014/main" id="{E797510E-80CF-6330-4887-C10F4E191EE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6378" y="1385573"/>
            <a:ext cx="1809095" cy="69872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a:extLst>
              <a:ext uri="{FF2B5EF4-FFF2-40B4-BE49-F238E27FC236}">
                <a16:creationId xmlns:a16="http://schemas.microsoft.com/office/drawing/2014/main" id="{7F129102-0D08-E273-1DB9-56131113ED5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6204" y="3343904"/>
            <a:ext cx="1299989" cy="100752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236;p39">
            <a:extLst>
              <a:ext uri="{FF2B5EF4-FFF2-40B4-BE49-F238E27FC236}">
                <a16:creationId xmlns:a16="http://schemas.microsoft.com/office/drawing/2014/main" id="{8ECB73F5-AFFE-040C-D0E0-7F3839F9567C}"/>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About </a:t>
            </a:r>
            <a:r>
              <a:rPr lang="en-US" b="1" dirty="0"/>
              <a:t>Datasets</a:t>
            </a:r>
            <a:endParaRPr lang="en-US" dirty="0"/>
          </a:p>
        </p:txBody>
      </p:sp>
    </p:spTree>
    <p:extLst>
      <p:ext uri="{BB962C8B-B14F-4D97-AF65-F5344CB8AC3E}">
        <p14:creationId xmlns:p14="http://schemas.microsoft.com/office/powerpoint/2010/main" val="275694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cxnSp>
        <p:nvCxnSpPr>
          <p:cNvPr id="6" name="Google Shape;593;p65">
            <a:extLst>
              <a:ext uri="{FF2B5EF4-FFF2-40B4-BE49-F238E27FC236}">
                <a16:creationId xmlns:a16="http://schemas.microsoft.com/office/drawing/2014/main" id="{E7236AD0-3B0A-D40B-84B8-DD542177C9D4}"/>
              </a:ext>
            </a:extLst>
          </p:cNvPr>
          <p:cNvCxnSpPr>
            <a:cxnSpLocks/>
            <a:stCxn id="13" idx="3"/>
            <a:endCxn id="10" idx="1"/>
          </p:cNvCxnSpPr>
          <p:nvPr/>
        </p:nvCxnSpPr>
        <p:spPr>
          <a:xfrm flipH="1">
            <a:off x="4393523" y="724704"/>
            <a:ext cx="1006660" cy="3423134"/>
          </a:xfrm>
          <a:prstGeom prst="bentConnector5">
            <a:avLst>
              <a:gd name="adj1" fmla="val -104623"/>
              <a:gd name="adj2" fmla="val 55486"/>
              <a:gd name="adj3" fmla="val -104379"/>
            </a:avLst>
          </a:prstGeom>
          <a:noFill/>
          <a:ln w="9525" cap="flat" cmpd="sng">
            <a:solidFill>
              <a:schemeClr val="dk1"/>
            </a:solidFill>
            <a:prstDash val="solid"/>
            <a:round/>
            <a:headEnd type="none" w="med" len="med"/>
            <a:tailEnd type="none" w="med" len="med"/>
          </a:ln>
        </p:spPr>
      </p:cxnSp>
      <p:sp>
        <p:nvSpPr>
          <p:cNvPr id="7" name="Google Shape;571;p65">
            <a:extLst>
              <a:ext uri="{FF2B5EF4-FFF2-40B4-BE49-F238E27FC236}">
                <a16:creationId xmlns:a16="http://schemas.microsoft.com/office/drawing/2014/main" id="{AA13FA36-7512-1059-9112-09D3C684E23D}"/>
              </a:ext>
            </a:extLst>
          </p:cNvPr>
          <p:cNvSpPr txBox="1"/>
          <p:nvPr/>
        </p:nvSpPr>
        <p:spPr>
          <a:xfrm>
            <a:off x="430098" y="870556"/>
            <a:ext cx="1225204" cy="45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lt2"/>
                </a:solidFill>
                <a:latin typeface="Alexandria Medium"/>
                <a:ea typeface="Alexandria Medium"/>
                <a:cs typeface="Alexandria Medium"/>
                <a:sym typeface="Alexandria Medium"/>
              </a:rPr>
              <a:t>01</a:t>
            </a:r>
            <a:endParaRPr sz="1800" dirty="0">
              <a:solidFill>
                <a:schemeClr val="lt2"/>
              </a:solidFill>
              <a:latin typeface="Alexandria Medium"/>
              <a:ea typeface="Alexandria Medium"/>
              <a:cs typeface="Alexandria Medium"/>
              <a:sym typeface="Alexandria Medium"/>
            </a:endParaRPr>
          </a:p>
        </p:txBody>
      </p:sp>
      <p:sp>
        <p:nvSpPr>
          <p:cNvPr id="8" name="Google Shape;572;p65">
            <a:extLst>
              <a:ext uri="{FF2B5EF4-FFF2-40B4-BE49-F238E27FC236}">
                <a16:creationId xmlns:a16="http://schemas.microsoft.com/office/drawing/2014/main" id="{F0BDE57A-E830-B20C-A8AC-3360E7E07FF3}"/>
              </a:ext>
            </a:extLst>
          </p:cNvPr>
          <p:cNvSpPr txBox="1"/>
          <p:nvPr/>
        </p:nvSpPr>
        <p:spPr>
          <a:xfrm>
            <a:off x="2593" y="1267906"/>
            <a:ext cx="2080214" cy="73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dirty="0">
                <a:solidFill>
                  <a:schemeClr val="dk1"/>
                </a:solidFill>
                <a:latin typeface="Alexandria Medium"/>
                <a:ea typeface="Alexandria Medium"/>
                <a:cs typeface="Alexandria Medium"/>
                <a:sym typeface="Alexandria Medium"/>
              </a:rPr>
              <a:t>Problem Statement</a:t>
            </a:r>
            <a:endParaRPr sz="1800" b="1" dirty="0">
              <a:solidFill>
                <a:schemeClr val="dk1"/>
              </a:solidFill>
              <a:latin typeface="Alexandria Medium"/>
              <a:ea typeface="Alexandria Medium"/>
              <a:cs typeface="Alexandria Medium"/>
              <a:sym typeface="Alexandria Medium"/>
            </a:endParaRPr>
          </a:p>
        </p:txBody>
      </p:sp>
      <p:sp>
        <p:nvSpPr>
          <p:cNvPr id="9" name="Google Shape;577;p65">
            <a:extLst>
              <a:ext uri="{FF2B5EF4-FFF2-40B4-BE49-F238E27FC236}">
                <a16:creationId xmlns:a16="http://schemas.microsoft.com/office/drawing/2014/main" id="{7B562DDB-1CE1-E003-4B3F-39EEAB96250E}"/>
              </a:ext>
            </a:extLst>
          </p:cNvPr>
          <p:cNvSpPr/>
          <p:nvPr/>
        </p:nvSpPr>
        <p:spPr>
          <a:xfrm>
            <a:off x="985075" y="664254"/>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84;p65">
            <a:extLst>
              <a:ext uri="{FF2B5EF4-FFF2-40B4-BE49-F238E27FC236}">
                <a16:creationId xmlns:a16="http://schemas.microsoft.com/office/drawing/2014/main" id="{97C2D721-B30C-1B03-088B-70B378E21B5D}"/>
              </a:ext>
            </a:extLst>
          </p:cNvPr>
          <p:cNvSpPr/>
          <p:nvPr/>
        </p:nvSpPr>
        <p:spPr>
          <a:xfrm>
            <a:off x="4393523" y="4087388"/>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85;p65">
            <a:extLst>
              <a:ext uri="{FF2B5EF4-FFF2-40B4-BE49-F238E27FC236}">
                <a16:creationId xmlns:a16="http://schemas.microsoft.com/office/drawing/2014/main" id="{0D4F5C18-9EC7-2D1B-0127-FB67C10BF241}"/>
              </a:ext>
            </a:extLst>
          </p:cNvPr>
          <p:cNvSpPr/>
          <p:nvPr/>
        </p:nvSpPr>
        <p:spPr>
          <a:xfrm>
            <a:off x="3219302" y="664254"/>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86;p65">
            <a:extLst>
              <a:ext uri="{FF2B5EF4-FFF2-40B4-BE49-F238E27FC236}">
                <a16:creationId xmlns:a16="http://schemas.microsoft.com/office/drawing/2014/main" id="{C3C6CF7D-D11E-369C-8122-2BE5FD74E89C}"/>
              </a:ext>
            </a:extLst>
          </p:cNvPr>
          <p:cNvSpPr/>
          <p:nvPr/>
        </p:nvSpPr>
        <p:spPr>
          <a:xfrm>
            <a:off x="6384174" y="2548211"/>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87;p65">
            <a:extLst>
              <a:ext uri="{FF2B5EF4-FFF2-40B4-BE49-F238E27FC236}">
                <a16:creationId xmlns:a16="http://schemas.microsoft.com/office/drawing/2014/main" id="{AB4783CA-EF7A-6D6F-4CFA-B4396DB03E99}"/>
              </a:ext>
            </a:extLst>
          </p:cNvPr>
          <p:cNvSpPr/>
          <p:nvPr/>
        </p:nvSpPr>
        <p:spPr>
          <a:xfrm>
            <a:off x="5279283" y="664254"/>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 name="Google Shape;589;p65">
            <a:extLst>
              <a:ext uri="{FF2B5EF4-FFF2-40B4-BE49-F238E27FC236}">
                <a16:creationId xmlns:a16="http://schemas.microsoft.com/office/drawing/2014/main" id="{1EDD7416-B1DE-877C-2A06-E29AF117A6E4}"/>
              </a:ext>
            </a:extLst>
          </p:cNvPr>
          <p:cNvCxnSpPr>
            <a:cxnSpLocks/>
            <a:stCxn id="9" idx="3"/>
            <a:endCxn id="11" idx="1"/>
          </p:cNvCxnSpPr>
          <p:nvPr/>
        </p:nvCxnSpPr>
        <p:spPr>
          <a:xfrm>
            <a:off x="1105975" y="724704"/>
            <a:ext cx="2113327" cy="0"/>
          </a:xfrm>
          <a:prstGeom prst="straightConnector1">
            <a:avLst/>
          </a:prstGeom>
          <a:noFill/>
          <a:ln w="9525" cap="flat" cmpd="sng">
            <a:solidFill>
              <a:schemeClr val="dk1"/>
            </a:solidFill>
            <a:prstDash val="solid"/>
            <a:round/>
            <a:headEnd type="none" w="med" len="med"/>
            <a:tailEnd type="none" w="med" len="med"/>
          </a:ln>
        </p:spPr>
      </p:cxnSp>
      <p:cxnSp>
        <p:nvCxnSpPr>
          <p:cNvPr id="15" name="Google Shape;590;p65">
            <a:extLst>
              <a:ext uri="{FF2B5EF4-FFF2-40B4-BE49-F238E27FC236}">
                <a16:creationId xmlns:a16="http://schemas.microsoft.com/office/drawing/2014/main" id="{D013EED9-9B8F-3545-13AA-4BC64998B830}"/>
              </a:ext>
            </a:extLst>
          </p:cNvPr>
          <p:cNvCxnSpPr>
            <a:cxnSpLocks/>
            <a:stCxn id="11" idx="3"/>
            <a:endCxn id="13" idx="1"/>
          </p:cNvCxnSpPr>
          <p:nvPr/>
        </p:nvCxnSpPr>
        <p:spPr>
          <a:xfrm>
            <a:off x="3340202" y="724704"/>
            <a:ext cx="1939081" cy="0"/>
          </a:xfrm>
          <a:prstGeom prst="straightConnector1">
            <a:avLst/>
          </a:prstGeom>
          <a:noFill/>
          <a:ln w="9525" cap="flat" cmpd="sng">
            <a:solidFill>
              <a:schemeClr val="dk1"/>
            </a:solidFill>
            <a:prstDash val="solid"/>
            <a:round/>
            <a:headEnd type="none" w="med" len="med"/>
            <a:tailEnd type="none" w="med" len="med"/>
          </a:ln>
        </p:spPr>
      </p:cxnSp>
      <p:cxnSp>
        <p:nvCxnSpPr>
          <p:cNvPr id="16" name="Google Shape;591;p65">
            <a:extLst>
              <a:ext uri="{FF2B5EF4-FFF2-40B4-BE49-F238E27FC236}">
                <a16:creationId xmlns:a16="http://schemas.microsoft.com/office/drawing/2014/main" id="{F7B30D60-8759-BBE7-4B0E-4EE39A557F16}"/>
              </a:ext>
            </a:extLst>
          </p:cNvPr>
          <p:cNvCxnSpPr>
            <a:cxnSpLocks/>
            <a:stCxn id="10" idx="3"/>
            <a:endCxn id="12" idx="1"/>
          </p:cNvCxnSpPr>
          <p:nvPr/>
        </p:nvCxnSpPr>
        <p:spPr>
          <a:xfrm flipV="1">
            <a:off x="4514423" y="2608661"/>
            <a:ext cx="1869751" cy="1539177"/>
          </a:xfrm>
          <a:prstGeom prst="straightConnector1">
            <a:avLst/>
          </a:prstGeom>
          <a:noFill/>
          <a:ln w="9525" cap="flat" cmpd="sng">
            <a:noFill/>
            <a:prstDash val="solid"/>
            <a:round/>
            <a:headEnd type="none" w="med" len="med"/>
            <a:tailEnd type="none" w="med" len="med"/>
          </a:ln>
        </p:spPr>
      </p:cxnSp>
      <p:sp>
        <p:nvSpPr>
          <p:cNvPr id="18" name="Google Shape;571;p65">
            <a:extLst>
              <a:ext uri="{FF2B5EF4-FFF2-40B4-BE49-F238E27FC236}">
                <a16:creationId xmlns:a16="http://schemas.microsoft.com/office/drawing/2014/main" id="{7E983FB2-E38A-6DF5-BFBD-1F6A8B37D9DC}"/>
              </a:ext>
            </a:extLst>
          </p:cNvPr>
          <p:cNvSpPr txBox="1"/>
          <p:nvPr/>
        </p:nvSpPr>
        <p:spPr>
          <a:xfrm>
            <a:off x="2661082" y="864242"/>
            <a:ext cx="1225204" cy="45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lt2"/>
                </a:solidFill>
                <a:latin typeface="Alexandria Medium"/>
                <a:ea typeface="Alexandria Medium"/>
                <a:cs typeface="Alexandria Medium"/>
                <a:sym typeface="Alexandria Medium"/>
              </a:rPr>
              <a:t>02</a:t>
            </a:r>
            <a:endParaRPr sz="1800" dirty="0">
              <a:solidFill>
                <a:schemeClr val="lt2"/>
              </a:solidFill>
              <a:latin typeface="Alexandria Medium"/>
              <a:ea typeface="Alexandria Medium"/>
              <a:cs typeface="Alexandria Medium"/>
              <a:sym typeface="Alexandria Medium"/>
            </a:endParaRPr>
          </a:p>
        </p:txBody>
      </p:sp>
      <p:sp>
        <p:nvSpPr>
          <p:cNvPr id="19" name="Google Shape;572;p65">
            <a:extLst>
              <a:ext uri="{FF2B5EF4-FFF2-40B4-BE49-F238E27FC236}">
                <a16:creationId xmlns:a16="http://schemas.microsoft.com/office/drawing/2014/main" id="{7F13648E-BBD9-82EC-1D67-584E55205D30}"/>
              </a:ext>
            </a:extLst>
          </p:cNvPr>
          <p:cNvSpPr txBox="1"/>
          <p:nvPr/>
        </p:nvSpPr>
        <p:spPr>
          <a:xfrm>
            <a:off x="2233577" y="1261592"/>
            <a:ext cx="2080214" cy="73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dirty="0">
                <a:solidFill>
                  <a:schemeClr val="dk1"/>
                </a:solidFill>
                <a:latin typeface="Alexandria Medium"/>
                <a:ea typeface="Alexandria Medium"/>
                <a:cs typeface="Alexandria Medium"/>
                <a:sym typeface="Alexandria Medium"/>
              </a:rPr>
              <a:t>Data Understanding</a:t>
            </a:r>
            <a:endParaRPr sz="1800" b="1" dirty="0">
              <a:solidFill>
                <a:schemeClr val="dk1"/>
              </a:solidFill>
              <a:latin typeface="Alexandria Medium"/>
              <a:ea typeface="Alexandria Medium"/>
              <a:cs typeface="Alexandria Medium"/>
              <a:sym typeface="Alexandria Medium"/>
            </a:endParaRPr>
          </a:p>
        </p:txBody>
      </p:sp>
      <p:sp>
        <p:nvSpPr>
          <p:cNvPr id="20" name="Google Shape;571;p65">
            <a:extLst>
              <a:ext uri="{FF2B5EF4-FFF2-40B4-BE49-F238E27FC236}">
                <a16:creationId xmlns:a16="http://schemas.microsoft.com/office/drawing/2014/main" id="{1BBA8B91-479B-CFFF-25CA-DB69BA2090EB}"/>
              </a:ext>
            </a:extLst>
          </p:cNvPr>
          <p:cNvSpPr txBox="1"/>
          <p:nvPr/>
        </p:nvSpPr>
        <p:spPr>
          <a:xfrm>
            <a:off x="4731465" y="878122"/>
            <a:ext cx="1225204" cy="45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lt2"/>
                </a:solidFill>
                <a:latin typeface="Alexandria Medium"/>
                <a:ea typeface="Alexandria Medium"/>
                <a:cs typeface="Alexandria Medium"/>
                <a:sym typeface="Alexandria Medium"/>
              </a:rPr>
              <a:t>03</a:t>
            </a:r>
            <a:endParaRPr sz="1800" dirty="0">
              <a:solidFill>
                <a:schemeClr val="lt2"/>
              </a:solidFill>
              <a:latin typeface="Alexandria Medium"/>
              <a:ea typeface="Alexandria Medium"/>
              <a:cs typeface="Alexandria Medium"/>
              <a:sym typeface="Alexandria Medium"/>
            </a:endParaRPr>
          </a:p>
        </p:txBody>
      </p:sp>
      <p:sp>
        <p:nvSpPr>
          <p:cNvPr id="21" name="Google Shape;572;p65">
            <a:extLst>
              <a:ext uri="{FF2B5EF4-FFF2-40B4-BE49-F238E27FC236}">
                <a16:creationId xmlns:a16="http://schemas.microsoft.com/office/drawing/2014/main" id="{BE7ADEE3-EA8D-4C83-FDC4-479910257864}"/>
              </a:ext>
            </a:extLst>
          </p:cNvPr>
          <p:cNvSpPr txBox="1"/>
          <p:nvPr/>
        </p:nvSpPr>
        <p:spPr>
          <a:xfrm>
            <a:off x="4303960" y="1275472"/>
            <a:ext cx="2080214" cy="73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dirty="0">
                <a:solidFill>
                  <a:schemeClr val="dk1"/>
                </a:solidFill>
                <a:latin typeface="Alexandria Medium"/>
                <a:ea typeface="Alexandria Medium"/>
                <a:cs typeface="Alexandria Medium"/>
                <a:sym typeface="Alexandria Medium"/>
              </a:rPr>
              <a:t>Data Preparation</a:t>
            </a:r>
            <a:endParaRPr sz="1800" b="1" dirty="0">
              <a:solidFill>
                <a:schemeClr val="dk1"/>
              </a:solidFill>
              <a:latin typeface="Alexandria Medium"/>
              <a:ea typeface="Alexandria Medium"/>
              <a:cs typeface="Alexandria Medium"/>
              <a:sym typeface="Alexandria Medium"/>
            </a:endParaRPr>
          </a:p>
        </p:txBody>
      </p:sp>
      <p:pic>
        <p:nvPicPr>
          <p:cNvPr id="22" name="Picture 8" descr="Microsoft Excel Logo Icon (2024) - Free Download PNG, SVG, AI">
            <a:extLst>
              <a:ext uri="{FF2B5EF4-FFF2-40B4-BE49-F238E27FC236}">
                <a16:creationId xmlns:a16="http://schemas.microsoft.com/office/drawing/2014/main" id="{3EA1AE3E-4368-8505-E68C-3CF827F748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922" y="2264887"/>
            <a:ext cx="346970" cy="32325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a:extLst>
              <a:ext uri="{FF2B5EF4-FFF2-40B4-BE49-F238E27FC236}">
                <a16:creationId xmlns:a16="http://schemas.microsoft.com/office/drawing/2014/main" id="{46B0AFBD-6148-1CF2-F5F9-415262F6B5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4786" y="2268816"/>
            <a:ext cx="380223" cy="416683"/>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2" descr="The Best Websites to Learn &amp; Practice SQL | by Nicholas Abell | Medium">
            <a:extLst>
              <a:ext uri="{FF2B5EF4-FFF2-40B4-BE49-F238E27FC236}">
                <a16:creationId xmlns:a16="http://schemas.microsoft.com/office/drawing/2014/main" id="{FE7009C7-60BB-FDCD-90D2-338ACC129B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57234" y="2259099"/>
            <a:ext cx="729683" cy="381994"/>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Rounded Corners 24">
            <a:extLst>
              <a:ext uri="{FF2B5EF4-FFF2-40B4-BE49-F238E27FC236}">
                <a16:creationId xmlns:a16="http://schemas.microsoft.com/office/drawing/2014/main" id="{82618A13-B6AA-F3AE-B85A-54D02FE238A7}"/>
              </a:ext>
            </a:extLst>
          </p:cNvPr>
          <p:cNvSpPr/>
          <p:nvPr/>
        </p:nvSpPr>
        <p:spPr>
          <a:xfrm>
            <a:off x="2691390" y="2148958"/>
            <a:ext cx="3045929" cy="771441"/>
          </a:xfrm>
          <a:prstGeom prst="round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432A9B64-2B35-5466-0E92-6BE99D7C0A1F}"/>
              </a:ext>
            </a:extLst>
          </p:cNvPr>
          <p:cNvSpPr txBox="1"/>
          <p:nvPr/>
        </p:nvSpPr>
        <p:spPr>
          <a:xfrm>
            <a:off x="2793306" y="2611814"/>
            <a:ext cx="680720" cy="246221"/>
          </a:xfrm>
          <a:prstGeom prst="rect">
            <a:avLst/>
          </a:prstGeom>
          <a:noFill/>
        </p:spPr>
        <p:txBody>
          <a:bodyPr wrap="square" rtlCol="0">
            <a:spAutoFit/>
          </a:bodyPr>
          <a:lstStyle/>
          <a:p>
            <a:pPr algn="ctr"/>
            <a:r>
              <a:rPr lang="en-US" sz="1000" dirty="0"/>
              <a:t>Excel</a:t>
            </a:r>
          </a:p>
        </p:txBody>
      </p:sp>
      <p:sp>
        <p:nvSpPr>
          <p:cNvPr id="27" name="TextBox 26">
            <a:extLst>
              <a:ext uri="{FF2B5EF4-FFF2-40B4-BE49-F238E27FC236}">
                <a16:creationId xmlns:a16="http://schemas.microsoft.com/office/drawing/2014/main" id="{09ADDFF0-C74A-8AEE-163C-96C6DA9FE6C3}"/>
              </a:ext>
            </a:extLst>
          </p:cNvPr>
          <p:cNvSpPr txBox="1"/>
          <p:nvPr/>
        </p:nvSpPr>
        <p:spPr>
          <a:xfrm>
            <a:off x="3636162" y="2608872"/>
            <a:ext cx="945912" cy="246221"/>
          </a:xfrm>
          <a:prstGeom prst="rect">
            <a:avLst/>
          </a:prstGeom>
          <a:noFill/>
        </p:spPr>
        <p:txBody>
          <a:bodyPr wrap="square" rtlCol="0">
            <a:spAutoFit/>
          </a:bodyPr>
          <a:lstStyle/>
          <a:p>
            <a:pPr algn="ctr"/>
            <a:r>
              <a:rPr lang="en-US" sz="1000" dirty="0"/>
              <a:t>Python</a:t>
            </a:r>
          </a:p>
        </p:txBody>
      </p:sp>
      <p:sp>
        <p:nvSpPr>
          <p:cNvPr id="28" name="TextBox 27">
            <a:extLst>
              <a:ext uri="{FF2B5EF4-FFF2-40B4-BE49-F238E27FC236}">
                <a16:creationId xmlns:a16="http://schemas.microsoft.com/office/drawing/2014/main" id="{19C7F148-82F5-C6CB-3499-EFBE83911DFC}"/>
              </a:ext>
            </a:extLst>
          </p:cNvPr>
          <p:cNvSpPr txBox="1"/>
          <p:nvPr/>
        </p:nvSpPr>
        <p:spPr>
          <a:xfrm>
            <a:off x="4647223" y="2618063"/>
            <a:ext cx="945912" cy="246221"/>
          </a:xfrm>
          <a:prstGeom prst="rect">
            <a:avLst/>
          </a:prstGeom>
          <a:noFill/>
        </p:spPr>
        <p:txBody>
          <a:bodyPr wrap="square" rtlCol="0">
            <a:spAutoFit/>
          </a:bodyPr>
          <a:lstStyle/>
          <a:p>
            <a:pPr algn="ctr"/>
            <a:r>
              <a:rPr lang="en-US" sz="1000" dirty="0"/>
              <a:t>SQL</a:t>
            </a:r>
          </a:p>
        </p:txBody>
      </p:sp>
      <p:sp>
        <p:nvSpPr>
          <p:cNvPr id="29" name="Google Shape;571;p65">
            <a:extLst>
              <a:ext uri="{FF2B5EF4-FFF2-40B4-BE49-F238E27FC236}">
                <a16:creationId xmlns:a16="http://schemas.microsoft.com/office/drawing/2014/main" id="{173E9667-8F4D-F792-49D7-1AD150B221C7}"/>
              </a:ext>
            </a:extLst>
          </p:cNvPr>
          <p:cNvSpPr txBox="1"/>
          <p:nvPr/>
        </p:nvSpPr>
        <p:spPr>
          <a:xfrm>
            <a:off x="6325906" y="1833754"/>
            <a:ext cx="1225204" cy="45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lt2"/>
                </a:solidFill>
                <a:latin typeface="Alexandria Medium"/>
                <a:ea typeface="Alexandria Medium"/>
                <a:cs typeface="Alexandria Medium"/>
                <a:sym typeface="Alexandria Medium"/>
              </a:rPr>
              <a:t>04</a:t>
            </a:r>
            <a:endParaRPr sz="1800" dirty="0">
              <a:solidFill>
                <a:schemeClr val="lt2"/>
              </a:solidFill>
              <a:latin typeface="Alexandria Medium"/>
              <a:ea typeface="Alexandria Medium"/>
              <a:cs typeface="Alexandria Medium"/>
              <a:sym typeface="Alexandria Medium"/>
            </a:endParaRPr>
          </a:p>
        </p:txBody>
      </p:sp>
      <p:sp>
        <p:nvSpPr>
          <p:cNvPr id="30" name="Google Shape;572;p65">
            <a:extLst>
              <a:ext uri="{FF2B5EF4-FFF2-40B4-BE49-F238E27FC236}">
                <a16:creationId xmlns:a16="http://schemas.microsoft.com/office/drawing/2014/main" id="{083BDA6E-D2D0-2B9A-891D-2C9ABBB2074D}"/>
              </a:ext>
            </a:extLst>
          </p:cNvPr>
          <p:cNvSpPr txBox="1"/>
          <p:nvPr/>
        </p:nvSpPr>
        <p:spPr>
          <a:xfrm>
            <a:off x="6684242" y="2203650"/>
            <a:ext cx="2080214" cy="7362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1800" b="1" dirty="0">
                <a:solidFill>
                  <a:schemeClr val="dk1"/>
                </a:solidFill>
                <a:latin typeface="Alexandria Medium"/>
                <a:ea typeface="Alexandria Medium"/>
                <a:cs typeface="Alexandria Medium"/>
                <a:sym typeface="Alexandria Medium"/>
              </a:rPr>
              <a:t>Data Visualization</a:t>
            </a:r>
            <a:endParaRPr sz="1800" b="1" dirty="0">
              <a:solidFill>
                <a:schemeClr val="dk1"/>
              </a:solidFill>
              <a:latin typeface="Alexandria Medium"/>
              <a:ea typeface="Alexandria Medium"/>
              <a:cs typeface="Alexandria Medium"/>
              <a:sym typeface="Alexandria Medium"/>
            </a:endParaRPr>
          </a:p>
        </p:txBody>
      </p:sp>
      <p:pic>
        <p:nvPicPr>
          <p:cNvPr id="31" name="Picture 28">
            <a:extLst>
              <a:ext uri="{FF2B5EF4-FFF2-40B4-BE49-F238E27FC236}">
                <a16:creationId xmlns:a16="http://schemas.microsoft.com/office/drawing/2014/main" id="{33B49B9A-D424-08A3-BC07-A4991C94B44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24362" y="3130413"/>
            <a:ext cx="373641" cy="373641"/>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36DAEBA7-8EC3-928C-881F-A3FDC9FC33EA}"/>
              </a:ext>
            </a:extLst>
          </p:cNvPr>
          <p:cNvSpPr txBox="1"/>
          <p:nvPr/>
        </p:nvSpPr>
        <p:spPr>
          <a:xfrm>
            <a:off x="6967609" y="3530002"/>
            <a:ext cx="715700" cy="246221"/>
          </a:xfrm>
          <a:prstGeom prst="rect">
            <a:avLst/>
          </a:prstGeom>
          <a:noFill/>
        </p:spPr>
        <p:txBody>
          <a:bodyPr wrap="square" rtlCol="0">
            <a:spAutoFit/>
          </a:bodyPr>
          <a:lstStyle/>
          <a:p>
            <a:pPr algn="ctr"/>
            <a:r>
              <a:rPr lang="en-US" sz="1000" dirty="0"/>
              <a:t>Power BI</a:t>
            </a:r>
          </a:p>
        </p:txBody>
      </p:sp>
      <p:sp>
        <p:nvSpPr>
          <p:cNvPr id="33" name="Rectangle: Rounded Corners 32">
            <a:extLst>
              <a:ext uri="{FF2B5EF4-FFF2-40B4-BE49-F238E27FC236}">
                <a16:creationId xmlns:a16="http://schemas.microsoft.com/office/drawing/2014/main" id="{AA92B496-CCC7-D08E-7477-21DF48D72F21}"/>
              </a:ext>
            </a:extLst>
          </p:cNvPr>
          <p:cNvSpPr/>
          <p:nvPr/>
        </p:nvSpPr>
        <p:spPr>
          <a:xfrm>
            <a:off x="6832612" y="3053227"/>
            <a:ext cx="979754" cy="771441"/>
          </a:xfrm>
          <a:prstGeom prst="round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Google Shape;571;p65">
            <a:extLst>
              <a:ext uri="{FF2B5EF4-FFF2-40B4-BE49-F238E27FC236}">
                <a16:creationId xmlns:a16="http://schemas.microsoft.com/office/drawing/2014/main" id="{EC922A5D-B19C-8A08-D88B-5CCA6DA22EE1}"/>
              </a:ext>
            </a:extLst>
          </p:cNvPr>
          <p:cNvSpPr txBox="1"/>
          <p:nvPr/>
        </p:nvSpPr>
        <p:spPr>
          <a:xfrm>
            <a:off x="2957951" y="3504054"/>
            <a:ext cx="1225204" cy="4572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800" dirty="0">
                <a:solidFill>
                  <a:schemeClr val="lt2"/>
                </a:solidFill>
                <a:latin typeface="Alexandria Medium"/>
                <a:ea typeface="Alexandria Medium"/>
                <a:cs typeface="Alexandria Medium"/>
                <a:sym typeface="Alexandria Medium"/>
              </a:rPr>
              <a:t>05</a:t>
            </a:r>
            <a:endParaRPr sz="1800" dirty="0">
              <a:solidFill>
                <a:schemeClr val="lt2"/>
              </a:solidFill>
              <a:latin typeface="Alexandria Medium"/>
              <a:ea typeface="Alexandria Medium"/>
              <a:cs typeface="Alexandria Medium"/>
              <a:sym typeface="Alexandria Medium"/>
            </a:endParaRPr>
          </a:p>
        </p:txBody>
      </p:sp>
      <p:sp>
        <p:nvSpPr>
          <p:cNvPr id="35" name="Google Shape;572;p65">
            <a:extLst>
              <a:ext uri="{FF2B5EF4-FFF2-40B4-BE49-F238E27FC236}">
                <a16:creationId xmlns:a16="http://schemas.microsoft.com/office/drawing/2014/main" id="{ADB1E9FE-0F3C-EBAD-1E03-37BEDDA5308C}"/>
              </a:ext>
            </a:extLst>
          </p:cNvPr>
          <p:cNvSpPr txBox="1"/>
          <p:nvPr/>
        </p:nvSpPr>
        <p:spPr>
          <a:xfrm>
            <a:off x="2102941" y="3886199"/>
            <a:ext cx="2080214" cy="7362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800" b="1" dirty="0">
                <a:solidFill>
                  <a:schemeClr val="dk1"/>
                </a:solidFill>
                <a:latin typeface="Alexandria Medium"/>
                <a:ea typeface="Alexandria Medium"/>
                <a:cs typeface="Alexandria Medium"/>
                <a:sym typeface="Alexandria Medium"/>
              </a:rPr>
              <a:t>Evaluation &amp; Reporting</a:t>
            </a:r>
            <a:endParaRPr sz="1800" b="1" dirty="0">
              <a:solidFill>
                <a:schemeClr val="dk1"/>
              </a:solidFill>
              <a:latin typeface="Alexandria Medium"/>
              <a:ea typeface="Alexandria Medium"/>
              <a:cs typeface="Alexandria Medium"/>
              <a:sym typeface="Alexandria Medium"/>
            </a:endParaRPr>
          </a:p>
        </p:txBody>
      </p:sp>
      <p:pic>
        <p:nvPicPr>
          <p:cNvPr id="36" name="Picture 10" descr="PowerPoint Logo Icon (2024) - Free Download PNG, SVG, AI">
            <a:extLst>
              <a:ext uri="{FF2B5EF4-FFF2-40B4-BE49-F238E27FC236}">
                <a16:creationId xmlns:a16="http://schemas.microsoft.com/office/drawing/2014/main" id="{EE225D83-D437-5B2E-6CEC-D3A67960501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57339" y="3791759"/>
            <a:ext cx="413257" cy="385007"/>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a:extLst>
              <a:ext uri="{FF2B5EF4-FFF2-40B4-BE49-F238E27FC236}">
                <a16:creationId xmlns:a16="http://schemas.microsoft.com/office/drawing/2014/main" id="{F7E779CE-D1B7-BE09-FC0B-F3C62C54CD2B}"/>
              </a:ext>
            </a:extLst>
          </p:cNvPr>
          <p:cNvSpPr txBox="1"/>
          <p:nvPr/>
        </p:nvSpPr>
        <p:spPr>
          <a:xfrm>
            <a:off x="1453429" y="4176190"/>
            <a:ext cx="844757" cy="246221"/>
          </a:xfrm>
          <a:prstGeom prst="rect">
            <a:avLst/>
          </a:prstGeom>
          <a:noFill/>
        </p:spPr>
        <p:txBody>
          <a:bodyPr wrap="square" rtlCol="0">
            <a:spAutoFit/>
          </a:bodyPr>
          <a:lstStyle/>
          <a:p>
            <a:pPr algn="ctr"/>
            <a:r>
              <a:rPr lang="en-US" sz="1000" dirty="0"/>
              <a:t>PowerPoint</a:t>
            </a:r>
          </a:p>
        </p:txBody>
      </p:sp>
      <p:sp>
        <p:nvSpPr>
          <p:cNvPr id="38" name="Rectangle: Rounded Corners 37">
            <a:extLst>
              <a:ext uri="{FF2B5EF4-FFF2-40B4-BE49-F238E27FC236}">
                <a16:creationId xmlns:a16="http://schemas.microsoft.com/office/drawing/2014/main" id="{38463A1D-E6B1-4004-BD72-1C373ECB7E14}"/>
              </a:ext>
            </a:extLst>
          </p:cNvPr>
          <p:cNvSpPr/>
          <p:nvPr/>
        </p:nvSpPr>
        <p:spPr>
          <a:xfrm>
            <a:off x="1385931" y="3701667"/>
            <a:ext cx="979754" cy="771441"/>
          </a:xfrm>
          <a:prstGeom prst="round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236;p39">
            <a:extLst>
              <a:ext uri="{FF2B5EF4-FFF2-40B4-BE49-F238E27FC236}">
                <a16:creationId xmlns:a16="http://schemas.microsoft.com/office/drawing/2014/main" id="{8FD6C4C1-6A7E-A0CC-37C0-19CC7037EA78}"/>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Project </a:t>
            </a:r>
            <a:r>
              <a:rPr lang="en-US" b="1" dirty="0"/>
              <a:t>Workflow</a:t>
            </a:r>
            <a:endParaRPr lang="en-US" dirty="0"/>
          </a:p>
        </p:txBody>
      </p:sp>
    </p:spTree>
    <p:extLst>
      <p:ext uri="{BB962C8B-B14F-4D97-AF65-F5344CB8AC3E}">
        <p14:creationId xmlns:p14="http://schemas.microsoft.com/office/powerpoint/2010/main" val="2714304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3"/>
          <p:cNvSpPr txBox="1">
            <a:spLocks noGrp="1"/>
          </p:cNvSpPr>
          <p:nvPr>
            <p:ph type="subTitle" idx="1"/>
          </p:nvPr>
        </p:nvSpPr>
        <p:spPr>
          <a:xfrm>
            <a:off x="715100" y="1349350"/>
            <a:ext cx="7713700" cy="933414"/>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dirty="0"/>
              <a:t>Inspect the structure of each dataset to identify column names, data types, and missing values. Based on this information, determine which columns will be used in the following steps. Column names and their order are also adjusted to improve readability.</a:t>
            </a:r>
          </a:p>
        </p:txBody>
      </p:sp>
      <p:sp>
        <p:nvSpPr>
          <p:cNvPr id="266" name="Google Shape;266;p43"/>
          <p:cNvSpPr txBox="1">
            <a:spLocks noGrp="1"/>
          </p:cNvSpPr>
          <p:nvPr>
            <p:ph type="subTitle" idx="3"/>
          </p:nvPr>
        </p:nvSpPr>
        <p:spPr>
          <a:xfrm>
            <a:off x="791935" y="969550"/>
            <a:ext cx="5930100" cy="45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General Overview of the Datasets</a:t>
            </a:r>
          </a:p>
        </p:txBody>
      </p:sp>
      <p:sp>
        <p:nvSpPr>
          <p:cNvPr id="10" name="Google Shape;273;p44">
            <a:extLst>
              <a:ext uri="{FF2B5EF4-FFF2-40B4-BE49-F238E27FC236}">
                <a16:creationId xmlns:a16="http://schemas.microsoft.com/office/drawing/2014/main" id="{F3F2FA6B-C718-A08D-ED84-53E274F5C7F7}"/>
              </a:ext>
            </a:extLst>
          </p:cNvPr>
          <p:cNvSpPr txBox="1"/>
          <p:nvPr/>
        </p:nvSpPr>
        <p:spPr>
          <a:xfrm>
            <a:off x="3452628" y="2403537"/>
            <a:ext cx="19284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dirty="0">
                <a:solidFill>
                  <a:schemeClr val="dk1"/>
                </a:solidFill>
                <a:latin typeface="Alexandria Medium"/>
                <a:ea typeface="Alexandria Medium"/>
                <a:cs typeface="Alexandria Medium"/>
                <a:sym typeface="Alexandria Medium"/>
              </a:rPr>
              <a:t>Findings</a:t>
            </a:r>
            <a:endParaRPr sz="1200" b="1" dirty="0">
              <a:solidFill>
                <a:schemeClr val="dk1"/>
              </a:solidFill>
              <a:latin typeface="Alexandria Medium"/>
              <a:ea typeface="Alexandria Medium"/>
              <a:cs typeface="Alexandria Medium"/>
              <a:sym typeface="Alexandria Medium"/>
            </a:endParaRPr>
          </a:p>
        </p:txBody>
      </p:sp>
      <p:sp>
        <p:nvSpPr>
          <p:cNvPr id="11" name="Google Shape;274;p44">
            <a:extLst>
              <a:ext uri="{FF2B5EF4-FFF2-40B4-BE49-F238E27FC236}">
                <a16:creationId xmlns:a16="http://schemas.microsoft.com/office/drawing/2014/main" id="{BA55B314-F890-5030-FBDC-EE850396AB96}"/>
              </a:ext>
            </a:extLst>
          </p:cNvPr>
          <p:cNvSpPr txBox="1">
            <a:spLocks/>
          </p:cNvSpPr>
          <p:nvPr/>
        </p:nvSpPr>
        <p:spPr>
          <a:xfrm>
            <a:off x="3452629" y="2784536"/>
            <a:ext cx="4899436" cy="167908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Char char="●"/>
              <a:defRPr sz="1200" b="0" i="0" u="none" strike="noStrike" cap="none">
                <a:solidFill>
                  <a:schemeClr val="dk1"/>
                </a:solidFill>
                <a:latin typeface="Albert Sans"/>
                <a:ea typeface="Albert Sans"/>
                <a:cs typeface="Albert Sans"/>
                <a:sym typeface="Albert Sans"/>
              </a:defRPr>
            </a:lvl1pPr>
            <a:lvl2pPr marL="914400" marR="0" lvl="1" indent="-304800" algn="l" rtl="0">
              <a:lnSpc>
                <a:spcPct val="100000"/>
              </a:lnSpc>
              <a:spcBef>
                <a:spcPts val="0"/>
              </a:spcBef>
              <a:spcAft>
                <a:spcPts val="0"/>
              </a:spcAft>
              <a:buClr>
                <a:schemeClr val="dk1"/>
              </a:buClr>
              <a:buSzPts val="1200"/>
              <a:buFont typeface="Albert Sans"/>
              <a:buChar char="○"/>
              <a:defRPr sz="1200" b="0" i="0" u="none" strike="noStrike" cap="none">
                <a:solidFill>
                  <a:schemeClr val="dk1"/>
                </a:solidFill>
                <a:latin typeface="Albert Sans"/>
                <a:ea typeface="Albert Sans"/>
                <a:cs typeface="Albert Sans"/>
                <a:sym typeface="Albert Sans"/>
              </a:defRPr>
            </a:lvl2pPr>
            <a:lvl3pPr marL="1371600" marR="0" lvl="2" indent="-304800" algn="l" rtl="0">
              <a:lnSpc>
                <a:spcPct val="100000"/>
              </a:lnSpc>
              <a:spcBef>
                <a:spcPts val="0"/>
              </a:spcBef>
              <a:spcAft>
                <a:spcPts val="0"/>
              </a:spcAft>
              <a:buClr>
                <a:schemeClr val="dk1"/>
              </a:buClr>
              <a:buSzPts val="1200"/>
              <a:buFont typeface="Albert Sans"/>
              <a:buChar char="■"/>
              <a:defRPr sz="1200" b="0" i="0" u="none" strike="noStrike" cap="none">
                <a:solidFill>
                  <a:schemeClr val="dk1"/>
                </a:solidFill>
                <a:latin typeface="Albert Sans"/>
                <a:ea typeface="Albert Sans"/>
                <a:cs typeface="Albert Sans"/>
                <a:sym typeface="Albert Sans"/>
              </a:defRPr>
            </a:lvl3pPr>
            <a:lvl4pPr marL="1828800" marR="0" lvl="3" indent="-304800" algn="l" rtl="0">
              <a:lnSpc>
                <a:spcPct val="100000"/>
              </a:lnSpc>
              <a:spcBef>
                <a:spcPts val="0"/>
              </a:spcBef>
              <a:spcAft>
                <a:spcPts val="0"/>
              </a:spcAft>
              <a:buClr>
                <a:schemeClr val="dk1"/>
              </a:buClr>
              <a:buSzPts val="1200"/>
              <a:buFont typeface="Albert Sans"/>
              <a:buChar char="●"/>
              <a:defRPr sz="1200" b="0" i="0" u="none" strike="noStrike" cap="none">
                <a:solidFill>
                  <a:schemeClr val="dk1"/>
                </a:solidFill>
                <a:latin typeface="Albert Sans"/>
                <a:ea typeface="Albert Sans"/>
                <a:cs typeface="Albert Sans"/>
                <a:sym typeface="Albert Sans"/>
              </a:defRPr>
            </a:lvl4pPr>
            <a:lvl5pPr marL="2286000" marR="0" lvl="4" indent="-304800" algn="l" rtl="0">
              <a:lnSpc>
                <a:spcPct val="100000"/>
              </a:lnSpc>
              <a:spcBef>
                <a:spcPts val="0"/>
              </a:spcBef>
              <a:spcAft>
                <a:spcPts val="0"/>
              </a:spcAft>
              <a:buClr>
                <a:schemeClr val="dk1"/>
              </a:buClr>
              <a:buSzPts val="1200"/>
              <a:buFont typeface="Albert Sans"/>
              <a:buChar char="○"/>
              <a:defRPr sz="1200" b="0" i="0" u="none" strike="noStrike" cap="none">
                <a:solidFill>
                  <a:schemeClr val="dk1"/>
                </a:solidFill>
                <a:latin typeface="Albert Sans"/>
                <a:ea typeface="Albert Sans"/>
                <a:cs typeface="Albert Sans"/>
                <a:sym typeface="Albert Sans"/>
              </a:defRPr>
            </a:lvl5pPr>
            <a:lvl6pPr marL="2743200" marR="0" lvl="5" indent="-304800" algn="l" rtl="0">
              <a:lnSpc>
                <a:spcPct val="100000"/>
              </a:lnSpc>
              <a:spcBef>
                <a:spcPts val="0"/>
              </a:spcBef>
              <a:spcAft>
                <a:spcPts val="0"/>
              </a:spcAft>
              <a:buClr>
                <a:schemeClr val="dk1"/>
              </a:buClr>
              <a:buSzPts val="1200"/>
              <a:buFont typeface="Albert Sans"/>
              <a:buChar char="■"/>
              <a:defRPr sz="1200" b="0" i="0" u="none" strike="noStrike" cap="none">
                <a:solidFill>
                  <a:schemeClr val="dk1"/>
                </a:solidFill>
                <a:latin typeface="Albert Sans"/>
                <a:ea typeface="Albert Sans"/>
                <a:cs typeface="Albert Sans"/>
                <a:sym typeface="Albert Sans"/>
              </a:defRPr>
            </a:lvl6pPr>
            <a:lvl7pPr marL="3200400" marR="0" lvl="6" indent="-304800" algn="l" rtl="0">
              <a:lnSpc>
                <a:spcPct val="100000"/>
              </a:lnSpc>
              <a:spcBef>
                <a:spcPts val="0"/>
              </a:spcBef>
              <a:spcAft>
                <a:spcPts val="0"/>
              </a:spcAft>
              <a:buClr>
                <a:schemeClr val="dk1"/>
              </a:buClr>
              <a:buSzPts val="1200"/>
              <a:buFont typeface="Albert Sans"/>
              <a:buChar char="●"/>
              <a:defRPr sz="1200" b="0" i="0" u="none" strike="noStrike" cap="none">
                <a:solidFill>
                  <a:schemeClr val="dk1"/>
                </a:solidFill>
                <a:latin typeface="Albert Sans"/>
                <a:ea typeface="Albert Sans"/>
                <a:cs typeface="Albert Sans"/>
                <a:sym typeface="Albert Sans"/>
              </a:defRPr>
            </a:lvl7pPr>
            <a:lvl8pPr marL="3657600" marR="0" lvl="7" indent="-304800" algn="l" rtl="0">
              <a:lnSpc>
                <a:spcPct val="100000"/>
              </a:lnSpc>
              <a:spcBef>
                <a:spcPts val="0"/>
              </a:spcBef>
              <a:spcAft>
                <a:spcPts val="0"/>
              </a:spcAft>
              <a:buClr>
                <a:schemeClr val="dk1"/>
              </a:buClr>
              <a:buSzPts val="1200"/>
              <a:buFont typeface="Albert Sans"/>
              <a:buChar char="○"/>
              <a:defRPr sz="1200" b="0" i="0" u="none" strike="noStrike" cap="none">
                <a:solidFill>
                  <a:schemeClr val="dk1"/>
                </a:solidFill>
                <a:latin typeface="Albert Sans"/>
                <a:ea typeface="Albert Sans"/>
                <a:cs typeface="Albert Sans"/>
                <a:sym typeface="Albert Sans"/>
              </a:defRPr>
            </a:lvl8pPr>
            <a:lvl9pPr marL="4114800" marR="0" lvl="8" indent="-304800" algn="l" rtl="0">
              <a:lnSpc>
                <a:spcPct val="100000"/>
              </a:lnSpc>
              <a:spcBef>
                <a:spcPts val="0"/>
              </a:spcBef>
              <a:spcAft>
                <a:spcPts val="0"/>
              </a:spcAft>
              <a:buClr>
                <a:schemeClr val="dk1"/>
              </a:buClr>
              <a:buSzPts val="1200"/>
              <a:buFont typeface="Albert Sans"/>
              <a:buChar char="■"/>
              <a:defRPr sz="1200" b="0" i="0" u="none" strike="noStrike" cap="none">
                <a:solidFill>
                  <a:schemeClr val="dk1"/>
                </a:solidFill>
                <a:latin typeface="Albert Sans"/>
                <a:ea typeface="Albert Sans"/>
                <a:cs typeface="Albert Sans"/>
                <a:sym typeface="Albert Sans"/>
              </a:defRPr>
            </a:lvl9pPr>
          </a:lstStyle>
          <a:p>
            <a:pPr marL="274320" indent="-213360" algn="just">
              <a:buClr>
                <a:schemeClr val="lt2"/>
              </a:buClr>
              <a:buFont typeface="Wingdings" panose="05000000000000000000" pitchFamily="2" charset="2"/>
              <a:buChar char="§"/>
            </a:pPr>
            <a:r>
              <a:rPr lang="en-US" dirty="0"/>
              <a:t>All column in the hospitals dataset has no Null values.</a:t>
            </a:r>
          </a:p>
          <a:p>
            <a:pPr marL="274320" indent="-213360" algn="just">
              <a:buClr>
                <a:schemeClr val="lt2"/>
              </a:buClr>
              <a:buFont typeface="Wingdings" panose="05000000000000000000" pitchFamily="2" charset="2"/>
              <a:buChar char="§"/>
            </a:pPr>
            <a:r>
              <a:rPr lang="en-US" dirty="0"/>
              <a:t>All column in the population dataset has Null values.</a:t>
            </a:r>
          </a:p>
          <a:p>
            <a:pPr marL="274320" indent="-213360" algn="just">
              <a:buClr>
                <a:schemeClr val="lt2"/>
              </a:buClr>
              <a:buFont typeface="Wingdings" panose="05000000000000000000" pitchFamily="2" charset="2"/>
              <a:buChar char="§"/>
            </a:pPr>
            <a:r>
              <a:rPr lang="en-US" dirty="0"/>
              <a:t>All column in the hospitals dataset will be used for future steps.</a:t>
            </a:r>
          </a:p>
          <a:p>
            <a:pPr marL="274320" indent="-213360" algn="just">
              <a:buClr>
                <a:schemeClr val="lt2"/>
              </a:buClr>
              <a:buFont typeface="Wingdings" panose="05000000000000000000" pitchFamily="2" charset="2"/>
              <a:buChar char="§"/>
            </a:pPr>
            <a:r>
              <a:rPr lang="en-US" dirty="0"/>
              <a:t>Only several column in the population dataset will be used:</a:t>
            </a:r>
          </a:p>
          <a:p>
            <a:pPr marL="731520" lvl="1" indent="-213360" algn="just">
              <a:spcBef>
                <a:spcPts val="600"/>
              </a:spcBef>
              <a:buClr>
                <a:schemeClr val="lt2"/>
              </a:buClr>
              <a:buFont typeface="Courier New" panose="02070309020205020404" pitchFamily="49" charset="0"/>
              <a:buChar char="o"/>
            </a:pPr>
            <a:r>
              <a:rPr lang="en-US" b="1" dirty="0"/>
              <a:t>'province'</a:t>
            </a:r>
          </a:p>
          <a:p>
            <a:pPr marL="731520" lvl="1" indent="-213360" algn="just">
              <a:buClr>
                <a:schemeClr val="lt2"/>
              </a:buClr>
              <a:buFont typeface="Courier New" panose="02070309020205020404" pitchFamily="49" charset="0"/>
              <a:buChar char="o"/>
            </a:pPr>
            <a:r>
              <a:rPr lang="en-US" b="1" dirty="0"/>
              <a:t>'</a:t>
            </a:r>
            <a:r>
              <a:rPr lang="en-US" b="1" dirty="0" err="1"/>
              <a:t>population_thousand</a:t>
            </a:r>
            <a:r>
              <a:rPr lang="en-US" b="1" dirty="0"/>
              <a:t>'</a:t>
            </a:r>
          </a:p>
          <a:p>
            <a:pPr marL="731520" lvl="1" indent="-213360" algn="just">
              <a:buClr>
                <a:schemeClr val="lt2"/>
              </a:buClr>
              <a:buFont typeface="Courier New" panose="02070309020205020404" pitchFamily="49" charset="0"/>
              <a:buChar char="o"/>
            </a:pPr>
            <a:r>
              <a:rPr lang="en-US" b="1" dirty="0"/>
              <a:t>'</a:t>
            </a:r>
            <a:r>
              <a:rPr lang="en-US" b="1" dirty="0" err="1"/>
              <a:t>population_density</a:t>
            </a:r>
            <a:r>
              <a:rPr lang="en-US" b="1" dirty="0"/>
              <a:t>'</a:t>
            </a:r>
          </a:p>
          <a:p>
            <a:pPr marL="731520" lvl="1" indent="-213360" algn="just">
              <a:buClr>
                <a:schemeClr val="lt2"/>
              </a:buClr>
              <a:buFont typeface="Wingdings" panose="05000000000000000000" pitchFamily="2" charset="2"/>
              <a:buChar char="§"/>
            </a:pPr>
            <a:endParaRPr lang="en-US" dirty="0"/>
          </a:p>
        </p:txBody>
      </p:sp>
      <p:pic>
        <p:nvPicPr>
          <p:cNvPr id="15" name="Picture 14">
            <a:extLst>
              <a:ext uri="{FF2B5EF4-FFF2-40B4-BE49-F238E27FC236}">
                <a16:creationId xmlns:a16="http://schemas.microsoft.com/office/drawing/2014/main" id="{7486498C-CB02-3B10-00F8-E88C481A2913}"/>
              </a:ext>
            </a:extLst>
          </p:cNvPr>
          <p:cNvPicPr>
            <a:picLocks noChangeAspect="1"/>
          </p:cNvPicPr>
          <p:nvPr/>
        </p:nvPicPr>
        <p:blipFill>
          <a:blip r:embed="rId3"/>
          <a:stretch>
            <a:fillRect/>
          </a:stretch>
        </p:blipFill>
        <p:spPr>
          <a:xfrm>
            <a:off x="791935" y="2412234"/>
            <a:ext cx="2277836" cy="1995314"/>
          </a:xfrm>
          <a:prstGeom prst="rect">
            <a:avLst/>
          </a:prstGeom>
        </p:spPr>
      </p:pic>
      <p:sp>
        <p:nvSpPr>
          <p:cNvPr id="19" name="Google Shape;206;p37">
            <a:extLst>
              <a:ext uri="{FF2B5EF4-FFF2-40B4-BE49-F238E27FC236}">
                <a16:creationId xmlns:a16="http://schemas.microsoft.com/office/drawing/2014/main" id="{C96192AF-B08D-B208-8133-C5A6F09BE6AF}"/>
              </a:ext>
            </a:extLst>
          </p:cNvPr>
          <p:cNvSpPr txBox="1">
            <a:spLocks noGrp="1"/>
          </p:cNvSpPr>
          <p:nvPr>
            <p:ph type="title"/>
          </p:nvPr>
        </p:nvSpPr>
        <p:spPr>
          <a:xfrm>
            <a:off x="359570" y="923200"/>
            <a:ext cx="5385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kumimoji="0" lang="en" sz="1800" b="0" i="0" u="none" strike="noStrike" kern="0" cap="none" spc="0" normalizeH="0" baseline="0" noProof="0" dirty="0">
                <a:ln>
                  <a:noFill/>
                </a:ln>
                <a:solidFill>
                  <a:srgbClr val="5296B8"/>
                </a:solidFill>
                <a:effectLst/>
                <a:uLnTx/>
                <a:uFillTx/>
                <a:latin typeface="Alexandria Medium"/>
                <a:cs typeface="Alexandria Medium"/>
                <a:sym typeface="Alexandria Medium"/>
              </a:rPr>
              <a:t>01</a:t>
            </a:r>
            <a:endParaRPr dirty="0"/>
          </a:p>
        </p:txBody>
      </p:sp>
      <p:sp>
        <p:nvSpPr>
          <p:cNvPr id="20" name="Rectangle: Rounded Corners 19">
            <a:extLst>
              <a:ext uri="{FF2B5EF4-FFF2-40B4-BE49-F238E27FC236}">
                <a16:creationId xmlns:a16="http://schemas.microsoft.com/office/drawing/2014/main" id="{CD4F10B6-EAAB-218E-6726-9AB95FB33ABD}"/>
              </a:ext>
            </a:extLst>
          </p:cNvPr>
          <p:cNvSpPr/>
          <p:nvPr/>
        </p:nvSpPr>
        <p:spPr>
          <a:xfrm>
            <a:off x="3388179" y="2412235"/>
            <a:ext cx="5040621" cy="1995314"/>
          </a:xfrm>
          <a:prstGeom prst="roundRect">
            <a:avLst>
              <a:gd name="adj" fmla="val 6807"/>
            </a:avLst>
          </a:prstGeom>
          <a:noFill/>
          <a:ln w="952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236;p39">
            <a:extLst>
              <a:ext uri="{FF2B5EF4-FFF2-40B4-BE49-F238E27FC236}">
                <a16:creationId xmlns:a16="http://schemas.microsoft.com/office/drawing/2014/main" id="{255C92A4-3C28-D49F-D858-70E345FB32D9}"/>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Data </a:t>
            </a:r>
            <a:r>
              <a:rPr lang="en-US" b="1" dirty="0"/>
              <a:t>Understanding</a:t>
            </a:r>
            <a:endParaRPr lang="en-US" dirty="0"/>
          </a:p>
        </p:txBody>
      </p:sp>
      <p:pic>
        <p:nvPicPr>
          <p:cNvPr id="3" name="Picture 2">
            <a:extLst>
              <a:ext uri="{FF2B5EF4-FFF2-40B4-BE49-F238E27FC236}">
                <a16:creationId xmlns:a16="http://schemas.microsoft.com/office/drawing/2014/main" id="{56AF2649-1E0D-0502-E57B-AC5A5697FF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349" y="417633"/>
            <a:ext cx="310244" cy="33999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2" descr="The Best Websites to Learn &amp; Practice SQL | by Nicholas Abell | Medium">
            <a:extLst>
              <a:ext uri="{FF2B5EF4-FFF2-40B4-BE49-F238E27FC236}">
                <a16:creationId xmlns:a16="http://schemas.microsoft.com/office/drawing/2014/main" id="{C9AA6058-074B-ADEA-4B1D-8C2D8FC7B8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2061" y="425797"/>
            <a:ext cx="597417" cy="312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2384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1" name="Google Shape;263;p43">
            <a:extLst>
              <a:ext uri="{FF2B5EF4-FFF2-40B4-BE49-F238E27FC236}">
                <a16:creationId xmlns:a16="http://schemas.microsoft.com/office/drawing/2014/main" id="{A04C74DB-1B26-3671-74BE-252E6A9CAD26}"/>
              </a:ext>
            </a:extLst>
          </p:cNvPr>
          <p:cNvSpPr txBox="1">
            <a:spLocks noGrp="1"/>
          </p:cNvSpPr>
          <p:nvPr>
            <p:ph type="subTitle" idx="1"/>
          </p:nvPr>
        </p:nvSpPr>
        <p:spPr>
          <a:xfrm>
            <a:off x="715100" y="1349350"/>
            <a:ext cx="7713700" cy="598679"/>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dirty="0"/>
              <a:t>The primary key in each dataset acts as the unique identifier for every row. This step checks whether duplicate values exist in the primary key fields.</a:t>
            </a:r>
          </a:p>
        </p:txBody>
      </p:sp>
      <p:sp>
        <p:nvSpPr>
          <p:cNvPr id="26" name="Google Shape;266;p43">
            <a:extLst>
              <a:ext uri="{FF2B5EF4-FFF2-40B4-BE49-F238E27FC236}">
                <a16:creationId xmlns:a16="http://schemas.microsoft.com/office/drawing/2014/main" id="{B0082F90-4022-E7B9-394F-07DABB53568E}"/>
              </a:ext>
            </a:extLst>
          </p:cNvPr>
          <p:cNvSpPr txBox="1">
            <a:spLocks/>
          </p:cNvSpPr>
          <p:nvPr/>
        </p:nvSpPr>
        <p:spPr>
          <a:xfrm>
            <a:off x="791935" y="969550"/>
            <a:ext cx="5930100" cy="456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1pPr>
            <a:lvl2pPr marL="914400" marR="0" lvl="1"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2pPr>
            <a:lvl3pPr marL="1371600" marR="0" lvl="2"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3pPr>
            <a:lvl4pPr marL="1828800" marR="0" lvl="3"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4pPr>
            <a:lvl5pPr marL="2286000" marR="0" lvl="4"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5pPr>
            <a:lvl6pPr marL="2743200" marR="0" lvl="5"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6pPr>
            <a:lvl7pPr marL="3200400" marR="0" lvl="6"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7pPr>
            <a:lvl8pPr marL="3657600" marR="0" lvl="7"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8pPr>
            <a:lvl9pPr marL="4114800" marR="0" lvl="8"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9pPr>
          </a:lstStyle>
          <a:p>
            <a:pPr marL="0" marR="0" lvl="0" indent="0" algn="l" defTabSz="914400" rtl="0" eaLnBrk="1" fontAlgn="auto" latinLnBrk="0" hangingPunct="1">
              <a:lnSpc>
                <a:spcPct val="100000"/>
              </a:lnSpc>
              <a:spcBef>
                <a:spcPts val="0"/>
              </a:spcBef>
              <a:spcAft>
                <a:spcPts val="0"/>
              </a:spcAft>
              <a:buClr>
                <a:srgbClr val="15110E"/>
              </a:buClr>
              <a:buSzPts val="2400"/>
              <a:buFont typeface="Alexandria Medium"/>
              <a:buNone/>
              <a:tabLst/>
              <a:defRPr/>
            </a:pPr>
            <a:r>
              <a:rPr kumimoji="0" lang="en-US" sz="1800" b="0" i="0" u="none" strike="noStrike" kern="0" cap="none" spc="0" normalizeH="0" baseline="0" noProof="0" dirty="0">
                <a:ln>
                  <a:noFill/>
                </a:ln>
                <a:solidFill>
                  <a:srgbClr val="15110E"/>
                </a:solidFill>
                <a:effectLst/>
                <a:uLnTx/>
                <a:uFillTx/>
                <a:latin typeface="Alexandria Medium"/>
                <a:cs typeface="Alexandria Medium"/>
                <a:sym typeface="Alexandria Medium"/>
              </a:rPr>
              <a:t>Detect Duplicate Values in Key Columns</a:t>
            </a:r>
          </a:p>
        </p:txBody>
      </p:sp>
      <p:sp>
        <p:nvSpPr>
          <p:cNvPr id="27" name="Google Shape;206;p37">
            <a:extLst>
              <a:ext uri="{FF2B5EF4-FFF2-40B4-BE49-F238E27FC236}">
                <a16:creationId xmlns:a16="http://schemas.microsoft.com/office/drawing/2014/main" id="{9CC9E648-30B1-631E-626A-5BECA4B78EAA}"/>
              </a:ext>
            </a:extLst>
          </p:cNvPr>
          <p:cNvSpPr txBox="1">
            <a:spLocks noGrp="1"/>
          </p:cNvSpPr>
          <p:nvPr>
            <p:ph type="title"/>
          </p:nvPr>
        </p:nvSpPr>
        <p:spPr>
          <a:xfrm>
            <a:off x="359570" y="923200"/>
            <a:ext cx="5385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kumimoji="0" lang="en" sz="1800" b="0" i="0" u="none" strike="noStrike" kern="0" cap="none" spc="0" normalizeH="0" baseline="0" noProof="0" dirty="0">
                <a:ln>
                  <a:noFill/>
                </a:ln>
                <a:solidFill>
                  <a:srgbClr val="5296B8"/>
                </a:solidFill>
                <a:effectLst/>
                <a:uLnTx/>
                <a:uFillTx/>
                <a:latin typeface="Alexandria Medium"/>
                <a:cs typeface="Alexandria Medium"/>
                <a:sym typeface="Alexandria Medium"/>
              </a:rPr>
              <a:t>02</a:t>
            </a:r>
            <a:endParaRPr dirty="0"/>
          </a:p>
        </p:txBody>
      </p:sp>
      <p:sp>
        <p:nvSpPr>
          <p:cNvPr id="28" name="Google Shape;273;p44">
            <a:extLst>
              <a:ext uri="{FF2B5EF4-FFF2-40B4-BE49-F238E27FC236}">
                <a16:creationId xmlns:a16="http://schemas.microsoft.com/office/drawing/2014/main" id="{B1F67533-F8D1-385C-C558-16DBB4C07826}"/>
              </a:ext>
            </a:extLst>
          </p:cNvPr>
          <p:cNvSpPr txBox="1"/>
          <p:nvPr/>
        </p:nvSpPr>
        <p:spPr>
          <a:xfrm>
            <a:off x="873283" y="2067992"/>
            <a:ext cx="19284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dirty="0">
                <a:solidFill>
                  <a:schemeClr val="dk1"/>
                </a:solidFill>
                <a:latin typeface="Alexandria Medium"/>
                <a:ea typeface="Alexandria Medium"/>
                <a:cs typeface="Alexandria Medium"/>
                <a:sym typeface="Alexandria Medium"/>
              </a:rPr>
              <a:t>Findings</a:t>
            </a:r>
            <a:endParaRPr sz="1200" b="1" dirty="0">
              <a:solidFill>
                <a:schemeClr val="dk1"/>
              </a:solidFill>
              <a:latin typeface="Alexandria Medium"/>
              <a:ea typeface="Alexandria Medium"/>
              <a:cs typeface="Alexandria Medium"/>
              <a:sym typeface="Alexandria Medium"/>
            </a:endParaRPr>
          </a:p>
        </p:txBody>
      </p:sp>
      <p:sp>
        <p:nvSpPr>
          <p:cNvPr id="32" name="TextBox 31">
            <a:extLst>
              <a:ext uri="{FF2B5EF4-FFF2-40B4-BE49-F238E27FC236}">
                <a16:creationId xmlns:a16="http://schemas.microsoft.com/office/drawing/2014/main" id="{778112E4-07D8-795B-FDCE-4D5EBAD1D0F0}"/>
              </a:ext>
            </a:extLst>
          </p:cNvPr>
          <p:cNvSpPr txBox="1"/>
          <p:nvPr/>
        </p:nvSpPr>
        <p:spPr>
          <a:xfrm>
            <a:off x="1656624" y="2158092"/>
            <a:ext cx="4580164" cy="276999"/>
          </a:xfrm>
          <a:prstGeom prst="rect">
            <a:avLst/>
          </a:prstGeom>
          <a:noFill/>
        </p:spPr>
        <p:txBody>
          <a:bodyPr wrap="square">
            <a:spAutoFit/>
          </a:bodyPr>
          <a:lstStyle/>
          <a:p>
            <a:pPr marL="60960" marR="0" lvl="0" algn="just" defTabSz="914400" rtl="0" eaLnBrk="1" fontAlgn="auto" latinLnBrk="0" hangingPunct="1">
              <a:lnSpc>
                <a:spcPct val="100000"/>
              </a:lnSpc>
              <a:spcBef>
                <a:spcPts val="0"/>
              </a:spcBef>
              <a:spcAft>
                <a:spcPts val="0"/>
              </a:spcAft>
              <a:buClr>
                <a:srgbClr val="5296B8"/>
              </a:buClr>
              <a:buSzTx/>
              <a:tabLst/>
              <a:defRPr/>
            </a:pPr>
            <a:r>
              <a:rPr lang="en-US" sz="1200" dirty="0">
                <a:solidFill>
                  <a:schemeClr val="dk1"/>
                </a:solidFill>
                <a:latin typeface="Albert Sans"/>
              </a:rPr>
              <a:t>Key in both datasets has no duplicate values.</a:t>
            </a:r>
          </a:p>
        </p:txBody>
      </p:sp>
      <p:sp>
        <p:nvSpPr>
          <p:cNvPr id="33" name="Google Shape;263;p43">
            <a:extLst>
              <a:ext uri="{FF2B5EF4-FFF2-40B4-BE49-F238E27FC236}">
                <a16:creationId xmlns:a16="http://schemas.microsoft.com/office/drawing/2014/main" id="{DC1482E2-57D5-5BC8-05D8-FB4E57B6E78E}"/>
              </a:ext>
            </a:extLst>
          </p:cNvPr>
          <p:cNvSpPr txBox="1">
            <a:spLocks/>
          </p:cNvSpPr>
          <p:nvPr/>
        </p:nvSpPr>
        <p:spPr>
          <a:xfrm>
            <a:off x="715100" y="3149073"/>
            <a:ext cx="7713700" cy="71459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1pPr>
            <a:lvl2pPr marL="914400" marR="0" lvl="1"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2pPr>
            <a:lvl3pPr marL="1371600" marR="0" lvl="2"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3pPr>
            <a:lvl4pPr marL="1828800" marR="0" lvl="3"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4pPr>
            <a:lvl5pPr marL="2286000" marR="0" lvl="4"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5pPr>
            <a:lvl6pPr marL="2743200" marR="0" lvl="5"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6pPr>
            <a:lvl7pPr marL="3200400" marR="0" lvl="6"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7pPr>
            <a:lvl8pPr marL="3657600" marR="0" lvl="7"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8pPr>
            <a:lvl9pPr marL="4114800" marR="0" lvl="8"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9pPr>
          </a:lstStyle>
          <a:p>
            <a:pPr marL="0" indent="0" algn="just"/>
            <a:r>
              <a:rPr lang="en-US" dirty="0"/>
              <a:t>After reviewing the column descriptions, numerical values are inspected. The </a:t>
            </a:r>
            <a:r>
              <a:rPr lang="en-US" sz="1200" b="1" dirty="0"/>
              <a:t>'</a:t>
            </a:r>
            <a:r>
              <a:rPr lang="en-US" sz="1200" b="1" dirty="0" err="1">
                <a:solidFill>
                  <a:schemeClr val="dk1"/>
                </a:solidFill>
                <a:latin typeface="Albert Sans"/>
              </a:rPr>
              <a:t>total_beds</a:t>
            </a:r>
            <a:r>
              <a:rPr lang="en-US" sz="1200" b="1" dirty="0"/>
              <a:t>'</a:t>
            </a:r>
            <a:r>
              <a:rPr lang="en-US" sz="1200" dirty="0">
                <a:solidFill>
                  <a:schemeClr val="dk1"/>
                </a:solidFill>
                <a:latin typeface="Albert Sans"/>
              </a:rPr>
              <a:t> </a:t>
            </a:r>
            <a:r>
              <a:rPr lang="en-US" dirty="0"/>
              <a:t>, </a:t>
            </a:r>
            <a:r>
              <a:rPr lang="en-US" sz="1200" b="1" dirty="0"/>
              <a:t>'</a:t>
            </a:r>
            <a:r>
              <a:rPr lang="en-US" sz="1200" b="1" dirty="0" err="1">
                <a:solidFill>
                  <a:schemeClr val="dk1"/>
                </a:solidFill>
                <a:latin typeface="Albert Sans"/>
              </a:rPr>
              <a:t>total_labors</a:t>
            </a:r>
            <a:r>
              <a:rPr lang="en-US" sz="1200" b="1" dirty="0"/>
              <a:t>'</a:t>
            </a:r>
            <a:r>
              <a:rPr lang="en-US" dirty="0"/>
              <a:t>, and </a:t>
            </a:r>
            <a:r>
              <a:rPr lang="en-US" sz="1200" b="1" dirty="0"/>
              <a:t>'</a:t>
            </a:r>
            <a:r>
              <a:rPr lang="en-US" sz="1200" b="1" dirty="0" err="1">
                <a:solidFill>
                  <a:schemeClr val="dk1"/>
                </a:solidFill>
                <a:latin typeface="Albert Sans"/>
              </a:rPr>
              <a:t>total_services</a:t>
            </a:r>
            <a:r>
              <a:rPr lang="en-US" sz="1200" b="1" dirty="0"/>
              <a:t>'</a:t>
            </a:r>
            <a:r>
              <a:rPr lang="en-US" sz="1200" dirty="0">
                <a:solidFill>
                  <a:schemeClr val="dk1"/>
                </a:solidFill>
                <a:latin typeface="Albert Sans"/>
              </a:rPr>
              <a:t> </a:t>
            </a:r>
            <a:r>
              <a:rPr lang="en-US" dirty="0"/>
              <a:t>columns should not contain zero or negative values, so this step identifies any invalid records.</a:t>
            </a:r>
          </a:p>
        </p:txBody>
      </p:sp>
      <p:sp>
        <p:nvSpPr>
          <p:cNvPr id="34" name="Google Shape;266;p43">
            <a:extLst>
              <a:ext uri="{FF2B5EF4-FFF2-40B4-BE49-F238E27FC236}">
                <a16:creationId xmlns:a16="http://schemas.microsoft.com/office/drawing/2014/main" id="{4CBBAA04-2992-4050-A0F6-46318BF6C44F}"/>
              </a:ext>
            </a:extLst>
          </p:cNvPr>
          <p:cNvSpPr txBox="1">
            <a:spLocks/>
          </p:cNvSpPr>
          <p:nvPr/>
        </p:nvSpPr>
        <p:spPr>
          <a:xfrm>
            <a:off x="791934" y="2769273"/>
            <a:ext cx="6760029" cy="456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1pPr>
            <a:lvl2pPr marL="914400" marR="0" lvl="1"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2pPr>
            <a:lvl3pPr marL="1371600" marR="0" lvl="2"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3pPr>
            <a:lvl4pPr marL="1828800" marR="0" lvl="3"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4pPr>
            <a:lvl5pPr marL="2286000" marR="0" lvl="4"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5pPr>
            <a:lvl6pPr marL="2743200" marR="0" lvl="5"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6pPr>
            <a:lvl7pPr marL="3200400" marR="0" lvl="6"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7pPr>
            <a:lvl8pPr marL="3657600" marR="0" lvl="7"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8pPr>
            <a:lvl9pPr marL="4114800" marR="0" lvl="8"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9pPr>
          </a:lstStyle>
          <a:p>
            <a:pPr marL="0" marR="0" lvl="0" indent="0" algn="l" defTabSz="914400" rtl="0" eaLnBrk="1" fontAlgn="auto" latinLnBrk="0" hangingPunct="1">
              <a:lnSpc>
                <a:spcPct val="100000"/>
              </a:lnSpc>
              <a:spcBef>
                <a:spcPts val="0"/>
              </a:spcBef>
              <a:spcAft>
                <a:spcPts val="0"/>
              </a:spcAft>
              <a:buClr>
                <a:srgbClr val="15110E"/>
              </a:buClr>
              <a:buSzPts val="2400"/>
              <a:buFont typeface="Alexandria Medium"/>
              <a:buNone/>
              <a:tabLst/>
              <a:defRPr/>
            </a:pPr>
            <a:r>
              <a:rPr kumimoji="0" lang="en-US" sz="1800" b="0" i="0" u="none" strike="noStrike" kern="0" cap="none" spc="0" normalizeH="0" baseline="0" noProof="0" dirty="0">
                <a:ln>
                  <a:noFill/>
                </a:ln>
                <a:solidFill>
                  <a:srgbClr val="15110E"/>
                </a:solidFill>
                <a:effectLst/>
                <a:uLnTx/>
                <a:uFillTx/>
                <a:latin typeface="Alexandria Medium"/>
                <a:cs typeface="Alexandria Medium"/>
                <a:sym typeface="Alexandria Medium"/>
              </a:rPr>
              <a:t>Detect Zero or Negative Numbers in Specific Columns</a:t>
            </a:r>
          </a:p>
        </p:txBody>
      </p:sp>
      <p:sp>
        <p:nvSpPr>
          <p:cNvPr id="35" name="Google Shape;206;p37">
            <a:extLst>
              <a:ext uri="{FF2B5EF4-FFF2-40B4-BE49-F238E27FC236}">
                <a16:creationId xmlns:a16="http://schemas.microsoft.com/office/drawing/2014/main" id="{A028B47F-A692-44E1-2E9E-14FC5D8A2DA7}"/>
              </a:ext>
            </a:extLst>
          </p:cNvPr>
          <p:cNvSpPr txBox="1">
            <a:spLocks/>
          </p:cNvSpPr>
          <p:nvPr/>
        </p:nvSpPr>
        <p:spPr>
          <a:xfrm>
            <a:off x="359570" y="2722923"/>
            <a:ext cx="538500" cy="548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1pPr>
            <a:lvl2pPr marR="0" lvl="1"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2pPr>
            <a:lvl3pPr marR="0" lvl="2"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3pPr>
            <a:lvl4pPr marR="0" lvl="3"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4pPr>
            <a:lvl5pPr marR="0" lvl="4"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5pPr>
            <a:lvl6pPr marR="0" lvl="5"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6pPr>
            <a:lvl7pPr marR="0" lvl="6"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7pPr>
            <a:lvl8pPr marR="0" lvl="7"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8pPr>
            <a:lvl9pPr marR="0" lvl="8"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9pPr>
          </a:lstStyle>
          <a:p>
            <a:pPr algn="ctr"/>
            <a:r>
              <a:rPr lang="en" sz="1800" dirty="0">
                <a:solidFill>
                  <a:srgbClr val="5296B8"/>
                </a:solidFill>
              </a:rPr>
              <a:t>03</a:t>
            </a:r>
            <a:endParaRPr lang="en" dirty="0"/>
          </a:p>
        </p:txBody>
      </p:sp>
      <p:sp>
        <p:nvSpPr>
          <p:cNvPr id="36" name="Google Shape;273;p44">
            <a:extLst>
              <a:ext uri="{FF2B5EF4-FFF2-40B4-BE49-F238E27FC236}">
                <a16:creationId xmlns:a16="http://schemas.microsoft.com/office/drawing/2014/main" id="{3764E455-219D-9E63-78F7-A81D76F7C85C}"/>
              </a:ext>
            </a:extLst>
          </p:cNvPr>
          <p:cNvSpPr txBox="1"/>
          <p:nvPr/>
        </p:nvSpPr>
        <p:spPr>
          <a:xfrm>
            <a:off x="873233" y="4112451"/>
            <a:ext cx="19284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dirty="0">
                <a:solidFill>
                  <a:schemeClr val="dk1"/>
                </a:solidFill>
                <a:latin typeface="Alexandria Medium"/>
                <a:ea typeface="Alexandria Medium"/>
                <a:cs typeface="Alexandria Medium"/>
                <a:sym typeface="Alexandria Medium"/>
              </a:rPr>
              <a:t>Findings</a:t>
            </a:r>
            <a:endParaRPr sz="1200" b="1" dirty="0">
              <a:solidFill>
                <a:schemeClr val="dk1"/>
              </a:solidFill>
              <a:latin typeface="Alexandria Medium"/>
              <a:ea typeface="Alexandria Medium"/>
              <a:cs typeface="Alexandria Medium"/>
              <a:sym typeface="Alexandria Medium"/>
            </a:endParaRPr>
          </a:p>
        </p:txBody>
      </p:sp>
      <p:sp>
        <p:nvSpPr>
          <p:cNvPr id="37" name="TextBox 36">
            <a:extLst>
              <a:ext uri="{FF2B5EF4-FFF2-40B4-BE49-F238E27FC236}">
                <a16:creationId xmlns:a16="http://schemas.microsoft.com/office/drawing/2014/main" id="{764C9D4A-4A51-5AD7-613E-BE3D9A2C6404}"/>
              </a:ext>
            </a:extLst>
          </p:cNvPr>
          <p:cNvSpPr txBox="1"/>
          <p:nvPr/>
        </p:nvSpPr>
        <p:spPr>
          <a:xfrm>
            <a:off x="1656624" y="4112451"/>
            <a:ext cx="6614143" cy="461665"/>
          </a:xfrm>
          <a:prstGeom prst="rect">
            <a:avLst/>
          </a:prstGeom>
          <a:noFill/>
        </p:spPr>
        <p:txBody>
          <a:bodyPr wrap="square">
            <a:spAutoFit/>
          </a:bodyPr>
          <a:lstStyle/>
          <a:p>
            <a:pPr marL="60960" marR="0" lvl="0" algn="just" defTabSz="914400" rtl="0" eaLnBrk="1" fontAlgn="auto" latinLnBrk="0" hangingPunct="1">
              <a:lnSpc>
                <a:spcPct val="100000"/>
              </a:lnSpc>
              <a:spcBef>
                <a:spcPts val="0"/>
              </a:spcBef>
              <a:spcAft>
                <a:spcPts val="0"/>
              </a:spcAft>
              <a:buClr>
                <a:srgbClr val="5296B8"/>
              </a:buClr>
              <a:buSzTx/>
              <a:tabLst/>
              <a:defRPr/>
            </a:pPr>
            <a:r>
              <a:rPr lang="en-US" sz="1200" dirty="0">
                <a:solidFill>
                  <a:schemeClr val="dk1"/>
                </a:solidFill>
                <a:latin typeface="Albert Sans"/>
              </a:rPr>
              <a:t>There are zero or negative numbers in </a:t>
            </a:r>
            <a:r>
              <a:rPr lang="en-US" sz="1200" b="1" dirty="0"/>
              <a:t>'</a:t>
            </a:r>
            <a:r>
              <a:rPr lang="en-US" sz="1200" b="1" dirty="0" err="1">
                <a:solidFill>
                  <a:schemeClr val="dk1"/>
                </a:solidFill>
                <a:latin typeface="Albert Sans"/>
              </a:rPr>
              <a:t>total_beds</a:t>
            </a:r>
            <a:r>
              <a:rPr lang="en-US" sz="1200" b="1" dirty="0"/>
              <a:t>'</a:t>
            </a:r>
            <a:r>
              <a:rPr lang="en-US" sz="1200" dirty="0">
                <a:solidFill>
                  <a:schemeClr val="dk1"/>
                </a:solidFill>
                <a:latin typeface="Albert Sans"/>
              </a:rPr>
              <a:t> and </a:t>
            </a:r>
            <a:r>
              <a:rPr lang="en-US" sz="1200" b="1" dirty="0"/>
              <a:t>'</a:t>
            </a:r>
            <a:r>
              <a:rPr lang="en-US" sz="1200" b="1" dirty="0" err="1">
                <a:solidFill>
                  <a:schemeClr val="dk1"/>
                </a:solidFill>
                <a:latin typeface="Albert Sans"/>
              </a:rPr>
              <a:t>total_labors</a:t>
            </a:r>
            <a:r>
              <a:rPr lang="en-US" sz="1200" b="1" dirty="0"/>
              <a:t>'</a:t>
            </a:r>
            <a:r>
              <a:rPr lang="en-US" sz="1200" dirty="0">
                <a:solidFill>
                  <a:schemeClr val="dk1"/>
                </a:solidFill>
                <a:latin typeface="Albert Sans"/>
              </a:rPr>
              <a:t>, while </a:t>
            </a:r>
            <a:r>
              <a:rPr lang="en-US" sz="1200" b="1" dirty="0"/>
              <a:t>'</a:t>
            </a:r>
            <a:r>
              <a:rPr lang="en-US" sz="1200" b="1" dirty="0" err="1">
                <a:solidFill>
                  <a:schemeClr val="dk1"/>
                </a:solidFill>
                <a:latin typeface="Albert Sans"/>
              </a:rPr>
              <a:t>total_services</a:t>
            </a:r>
            <a:r>
              <a:rPr lang="en-US" sz="1200" b="1" dirty="0"/>
              <a:t>'</a:t>
            </a:r>
            <a:r>
              <a:rPr lang="en-US" sz="1200" dirty="0">
                <a:solidFill>
                  <a:schemeClr val="dk1"/>
                </a:solidFill>
                <a:latin typeface="Albert Sans"/>
              </a:rPr>
              <a:t> does not have it.</a:t>
            </a:r>
          </a:p>
        </p:txBody>
      </p:sp>
      <p:sp>
        <p:nvSpPr>
          <p:cNvPr id="38" name="Rectangle: Rounded Corners 37">
            <a:extLst>
              <a:ext uri="{FF2B5EF4-FFF2-40B4-BE49-F238E27FC236}">
                <a16:creationId xmlns:a16="http://schemas.microsoft.com/office/drawing/2014/main" id="{F1EC3FCA-909F-F84E-F350-66F289226580}"/>
              </a:ext>
            </a:extLst>
          </p:cNvPr>
          <p:cNvSpPr/>
          <p:nvPr/>
        </p:nvSpPr>
        <p:spPr>
          <a:xfrm>
            <a:off x="791934" y="1967370"/>
            <a:ext cx="7560131" cy="649038"/>
          </a:xfrm>
          <a:prstGeom prst="roundRect">
            <a:avLst>
              <a:gd name="adj" fmla="val 6807"/>
            </a:avLst>
          </a:prstGeom>
          <a:noFill/>
          <a:ln w="952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Rounded Corners 38">
            <a:extLst>
              <a:ext uri="{FF2B5EF4-FFF2-40B4-BE49-F238E27FC236}">
                <a16:creationId xmlns:a16="http://schemas.microsoft.com/office/drawing/2014/main" id="{1E43275F-8FF3-36D5-6133-D12A1AD27118}"/>
              </a:ext>
            </a:extLst>
          </p:cNvPr>
          <p:cNvSpPr/>
          <p:nvPr/>
        </p:nvSpPr>
        <p:spPr>
          <a:xfrm>
            <a:off x="791884" y="4016532"/>
            <a:ext cx="7560131" cy="649038"/>
          </a:xfrm>
          <a:prstGeom prst="roundRect">
            <a:avLst>
              <a:gd name="adj" fmla="val 6807"/>
            </a:avLst>
          </a:prstGeom>
          <a:noFill/>
          <a:ln w="952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236;p39">
            <a:extLst>
              <a:ext uri="{FF2B5EF4-FFF2-40B4-BE49-F238E27FC236}">
                <a16:creationId xmlns:a16="http://schemas.microsoft.com/office/drawing/2014/main" id="{6EE81C83-8A14-EEFA-364D-9A79920368F4}"/>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Data </a:t>
            </a:r>
            <a:r>
              <a:rPr lang="en-US" b="1" dirty="0"/>
              <a:t>Understanding</a:t>
            </a:r>
            <a:endParaRPr lang="en-US" dirty="0"/>
          </a:p>
        </p:txBody>
      </p:sp>
      <p:pic>
        <p:nvPicPr>
          <p:cNvPr id="5" name="Picture 4">
            <a:extLst>
              <a:ext uri="{FF2B5EF4-FFF2-40B4-BE49-F238E27FC236}">
                <a16:creationId xmlns:a16="http://schemas.microsoft.com/office/drawing/2014/main" id="{A5DBC004-1424-60BE-431E-D7324BBDE2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49" y="417633"/>
            <a:ext cx="310244" cy="33999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2" descr="The Best Websites to Learn &amp; Practice SQL | by Nicholas Abell | Medium">
            <a:extLst>
              <a:ext uri="{FF2B5EF4-FFF2-40B4-BE49-F238E27FC236}">
                <a16:creationId xmlns:a16="http://schemas.microsoft.com/office/drawing/2014/main" id="{3ACA0A00-9AFD-79D0-8EE1-64F67F39DF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2061" y="425797"/>
            <a:ext cx="597417" cy="312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1860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6" name="Google Shape;263;p43">
            <a:extLst>
              <a:ext uri="{FF2B5EF4-FFF2-40B4-BE49-F238E27FC236}">
                <a16:creationId xmlns:a16="http://schemas.microsoft.com/office/drawing/2014/main" id="{B264E71D-BF15-9AFA-66DF-2A4AE2914798}"/>
              </a:ext>
            </a:extLst>
          </p:cNvPr>
          <p:cNvSpPr txBox="1">
            <a:spLocks noGrp="1"/>
          </p:cNvSpPr>
          <p:nvPr>
            <p:ph type="subTitle" idx="1"/>
          </p:nvPr>
        </p:nvSpPr>
        <p:spPr>
          <a:xfrm>
            <a:off x="715100" y="1349350"/>
            <a:ext cx="7713700" cy="1069676"/>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sz="1200" dirty="0"/>
              <a:t>Besides invalid values, large datasets may also contain outliers. This step uses the Z-score method to identify extreme values, while domain knowledge is used to determine whether the detected values should be treated as anomalies.</a:t>
            </a:r>
          </a:p>
        </p:txBody>
      </p:sp>
      <p:sp>
        <p:nvSpPr>
          <p:cNvPr id="8" name="Google Shape;266;p43">
            <a:extLst>
              <a:ext uri="{FF2B5EF4-FFF2-40B4-BE49-F238E27FC236}">
                <a16:creationId xmlns:a16="http://schemas.microsoft.com/office/drawing/2014/main" id="{C00C1E10-4A32-CAE5-743E-4171F4BB5F5F}"/>
              </a:ext>
            </a:extLst>
          </p:cNvPr>
          <p:cNvSpPr txBox="1">
            <a:spLocks/>
          </p:cNvSpPr>
          <p:nvPr/>
        </p:nvSpPr>
        <p:spPr>
          <a:xfrm>
            <a:off x="791935" y="969550"/>
            <a:ext cx="5930100" cy="456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1pPr>
            <a:lvl2pPr marL="914400" marR="0" lvl="1"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2pPr>
            <a:lvl3pPr marL="1371600" marR="0" lvl="2"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3pPr>
            <a:lvl4pPr marL="1828800" marR="0" lvl="3"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4pPr>
            <a:lvl5pPr marL="2286000" marR="0" lvl="4"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5pPr>
            <a:lvl6pPr marL="2743200" marR="0" lvl="5"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6pPr>
            <a:lvl7pPr marL="3200400" marR="0" lvl="6"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7pPr>
            <a:lvl8pPr marL="3657600" marR="0" lvl="7"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8pPr>
            <a:lvl9pPr marL="4114800" marR="0" lvl="8"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9pPr>
          </a:lstStyle>
          <a:p>
            <a:pPr marL="0" marR="0" lvl="0" indent="0" algn="l" defTabSz="914400" rtl="0" eaLnBrk="1" fontAlgn="auto" latinLnBrk="0" hangingPunct="1">
              <a:lnSpc>
                <a:spcPct val="100000"/>
              </a:lnSpc>
              <a:spcBef>
                <a:spcPts val="0"/>
              </a:spcBef>
              <a:spcAft>
                <a:spcPts val="0"/>
              </a:spcAft>
              <a:buClr>
                <a:srgbClr val="15110E"/>
              </a:buClr>
              <a:buSzPts val="2400"/>
              <a:buFont typeface="Alexandria Medium"/>
              <a:buNone/>
              <a:tabLst/>
              <a:defRPr/>
            </a:pPr>
            <a:r>
              <a:rPr kumimoji="0" lang="en-US" sz="1800" b="0" i="0" u="none" strike="noStrike" kern="0" cap="none" spc="0" normalizeH="0" baseline="0" noProof="0" dirty="0">
                <a:ln>
                  <a:noFill/>
                </a:ln>
                <a:solidFill>
                  <a:srgbClr val="15110E"/>
                </a:solidFill>
                <a:effectLst/>
                <a:uLnTx/>
                <a:uFillTx/>
                <a:latin typeface="Alexandria Medium"/>
                <a:cs typeface="Alexandria Medium"/>
                <a:sym typeface="Alexandria Medium"/>
              </a:rPr>
              <a:t>Detect Outlier Anomalies with Z-Score Method</a:t>
            </a:r>
          </a:p>
        </p:txBody>
      </p:sp>
      <p:sp>
        <p:nvSpPr>
          <p:cNvPr id="9" name="Google Shape;206;p37">
            <a:extLst>
              <a:ext uri="{FF2B5EF4-FFF2-40B4-BE49-F238E27FC236}">
                <a16:creationId xmlns:a16="http://schemas.microsoft.com/office/drawing/2014/main" id="{EBDD76AA-1BED-1E56-24C8-187577258426}"/>
              </a:ext>
            </a:extLst>
          </p:cNvPr>
          <p:cNvSpPr txBox="1">
            <a:spLocks noGrp="1"/>
          </p:cNvSpPr>
          <p:nvPr>
            <p:ph type="title"/>
          </p:nvPr>
        </p:nvSpPr>
        <p:spPr>
          <a:xfrm>
            <a:off x="359570" y="923200"/>
            <a:ext cx="5385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kumimoji="0" lang="en" sz="1800" b="0" i="0" u="none" strike="noStrike" kern="0" cap="none" spc="0" normalizeH="0" baseline="0" noProof="0" dirty="0">
                <a:ln>
                  <a:noFill/>
                </a:ln>
                <a:solidFill>
                  <a:srgbClr val="5296B8"/>
                </a:solidFill>
                <a:effectLst/>
                <a:uLnTx/>
                <a:uFillTx/>
                <a:latin typeface="Alexandria Medium"/>
                <a:cs typeface="Alexandria Medium"/>
                <a:sym typeface="Alexandria Medium"/>
              </a:rPr>
              <a:t>04</a:t>
            </a:r>
            <a:endParaRPr dirty="0"/>
          </a:p>
        </p:txBody>
      </p:sp>
      <p:sp>
        <p:nvSpPr>
          <p:cNvPr id="10" name="Google Shape;273;p44">
            <a:extLst>
              <a:ext uri="{FF2B5EF4-FFF2-40B4-BE49-F238E27FC236}">
                <a16:creationId xmlns:a16="http://schemas.microsoft.com/office/drawing/2014/main" id="{C585CE71-53E8-40A9-F8A1-E65C62599E72}"/>
              </a:ext>
            </a:extLst>
          </p:cNvPr>
          <p:cNvSpPr txBox="1"/>
          <p:nvPr/>
        </p:nvSpPr>
        <p:spPr>
          <a:xfrm>
            <a:off x="854169" y="2272629"/>
            <a:ext cx="19284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dirty="0">
                <a:solidFill>
                  <a:schemeClr val="dk1"/>
                </a:solidFill>
                <a:latin typeface="Alexandria Medium"/>
                <a:ea typeface="Alexandria Medium"/>
                <a:cs typeface="Alexandria Medium"/>
                <a:sym typeface="Alexandria Medium"/>
              </a:rPr>
              <a:t>Findings</a:t>
            </a:r>
            <a:endParaRPr sz="1200" b="1" dirty="0">
              <a:solidFill>
                <a:schemeClr val="dk1"/>
              </a:solidFill>
              <a:latin typeface="Alexandria Medium"/>
              <a:ea typeface="Alexandria Medium"/>
              <a:cs typeface="Alexandria Medium"/>
              <a:sym typeface="Alexandria Medium"/>
            </a:endParaRPr>
          </a:p>
        </p:txBody>
      </p:sp>
      <p:sp>
        <p:nvSpPr>
          <p:cNvPr id="11" name="TextBox 10">
            <a:extLst>
              <a:ext uri="{FF2B5EF4-FFF2-40B4-BE49-F238E27FC236}">
                <a16:creationId xmlns:a16="http://schemas.microsoft.com/office/drawing/2014/main" id="{DD03B1A4-DCF8-808F-AAA8-C82165B61FD5}"/>
              </a:ext>
            </a:extLst>
          </p:cNvPr>
          <p:cNvSpPr txBox="1"/>
          <p:nvPr/>
        </p:nvSpPr>
        <p:spPr>
          <a:xfrm>
            <a:off x="1618157" y="2278212"/>
            <a:ext cx="6671674" cy="461665"/>
          </a:xfrm>
          <a:prstGeom prst="rect">
            <a:avLst/>
          </a:prstGeom>
          <a:noFill/>
        </p:spPr>
        <p:txBody>
          <a:bodyPr wrap="square">
            <a:spAutoFit/>
          </a:bodyPr>
          <a:lstStyle/>
          <a:p>
            <a:pPr marL="60960" marR="0" lvl="0" algn="just" defTabSz="914400" rtl="0" eaLnBrk="1" fontAlgn="auto" latinLnBrk="0" hangingPunct="1">
              <a:lnSpc>
                <a:spcPct val="100000"/>
              </a:lnSpc>
              <a:spcBef>
                <a:spcPts val="0"/>
              </a:spcBef>
              <a:spcAft>
                <a:spcPts val="0"/>
              </a:spcAft>
              <a:buClr>
                <a:srgbClr val="5296B8"/>
              </a:buClr>
              <a:buSzTx/>
              <a:tabLst/>
              <a:defRPr/>
            </a:pPr>
            <a:r>
              <a:rPr lang="en-US" sz="1200" dirty="0">
                <a:solidFill>
                  <a:schemeClr val="dk1"/>
                </a:solidFill>
                <a:latin typeface="Albert Sans"/>
              </a:rPr>
              <a:t>There are 2 value considered as anomalies in </a:t>
            </a:r>
            <a:r>
              <a:rPr lang="en-US" sz="1200" b="1" dirty="0"/>
              <a:t>'</a:t>
            </a:r>
            <a:r>
              <a:rPr lang="en-US" sz="1200" b="1" dirty="0" err="1">
                <a:solidFill>
                  <a:schemeClr val="dk1"/>
                </a:solidFill>
                <a:latin typeface="Albert Sans"/>
              </a:rPr>
              <a:t>total_beds</a:t>
            </a:r>
            <a:r>
              <a:rPr lang="en-US" sz="1200" b="1" dirty="0"/>
              <a:t>'</a:t>
            </a:r>
            <a:r>
              <a:rPr lang="en-US" sz="1200" dirty="0">
                <a:solidFill>
                  <a:schemeClr val="dk1"/>
                </a:solidFill>
                <a:latin typeface="Albert Sans"/>
              </a:rPr>
              <a:t>, while </a:t>
            </a:r>
            <a:r>
              <a:rPr lang="en-US" sz="1200" b="1" dirty="0"/>
              <a:t>'</a:t>
            </a:r>
            <a:r>
              <a:rPr lang="en-US" sz="1200" b="1" dirty="0" err="1">
                <a:solidFill>
                  <a:schemeClr val="dk1"/>
                </a:solidFill>
                <a:latin typeface="Albert Sans"/>
              </a:rPr>
              <a:t>total_services</a:t>
            </a:r>
            <a:r>
              <a:rPr lang="en-US" sz="1200" b="1" dirty="0"/>
              <a:t>'</a:t>
            </a:r>
            <a:r>
              <a:rPr lang="en-US" sz="1200" dirty="0">
                <a:solidFill>
                  <a:schemeClr val="dk1"/>
                </a:solidFill>
                <a:latin typeface="Albert Sans"/>
              </a:rPr>
              <a:t> and </a:t>
            </a:r>
            <a:r>
              <a:rPr lang="en-US" sz="1200" b="1" dirty="0"/>
              <a:t>'</a:t>
            </a:r>
            <a:r>
              <a:rPr lang="en-US" sz="1200" b="1" dirty="0" err="1">
                <a:solidFill>
                  <a:schemeClr val="dk1"/>
                </a:solidFill>
                <a:latin typeface="Albert Sans"/>
              </a:rPr>
              <a:t>total_labors</a:t>
            </a:r>
            <a:r>
              <a:rPr lang="en-US" sz="1200" b="1" dirty="0"/>
              <a:t>'</a:t>
            </a:r>
            <a:r>
              <a:rPr lang="en-US" sz="1200" dirty="0">
                <a:solidFill>
                  <a:schemeClr val="dk1"/>
                </a:solidFill>
                <a:latin typeface="Albert Sans"/>
              </a:rPr>
              <a:t> does not have it.</a:t>
            </a:r>
          </a:p>
        </p:txBody>
      </p:sp>
      <p:sp>
        <p:nvSpPr>
          <p:cNvPr id="12" name="Google Shape;263;p43">
            <a:extLst>
              <a:ext uri="{FF2B5EF4-FFF2-40B4-BE49-F238E27FC236}">
                <a16:creationId xmlns:a16="http://schemas.microsoft.com/office/drawing/2014/main" id="{04C0E3D9-F4A7-269D-A671-72144D7D7307}"/>
              </a:ext>
            </a:extLst>
          </p:cNvPr>
          <p:cNvSpPr txBox="1">
            <a:spLocks/>
          </p:cNvSpPr>
          <p:nvPr/>
        </p:nvSpPr>
        <p:spPr>
          <a:xfrm>
            <a:off x="715100" y="3505706"/>
            <a:ext cx="7713700" cy="548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1pPr>
            <a:lvl2pPr marL="914400" marR="0" lvl="1"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2pPr>
            <a:lvl3pPr marL="1371600" marR="0" lvl="2"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3pPr>
            <a:lvl4pPr marL="1828800" marR="0" lvl="3"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4pPr>
            <a:lvl5pPr marL="2286000" marR="0" lvl="4"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5pPr>
            <a:lvl6pPr marL="2743200" marR="0" lvl="5"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6pPr>
            <a:lvl7pPr marL="3200400" marR="0" lvl="6"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7pPr>
            <a:lvl8pPr marL="3657600" marR="0" lvl="7"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8pPr>
            <a:lvl9pPr marL="4114800" marR="0" lvl="8"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9pPr>
          </a:lstStyle>
          <a:p>
            <a:pPr marL="0" indent="0" algn="just"/>
            <a:r>
              <a:rPr lang="en-US" dirty="0"/>
              <a:t>The shared column is used as the join key between both datasets, so its values must be consistent. This step identifies any differences in the shared column before joining.</a:t>
            </a:r>
          </a:p>
        </p:txBody>
      </p:sp>
      <p:sp>
        <p:nvSpPr>
          <p:cNvPr id="13" name="Google Shape;266;p43">
            <a:extLst>
              <a:ext uri="{FF2B5EF4-FFF2-40B4-BE49-F238E27FC236}">
                <a16:creationId xmlns:a16="http://schemas.microsoft.com/office/drawing/2014/main" id="{4DAD6BD6-B6F7-5639-899E-00FC4FBA90B0}"/>
              </a:ext>
            </a:extLst>
          </p:cNvPr>
          <p:cNvSpPr txBox="1">
            <a:spLocks/>
          </p:cNvSpPr>
          <p:nvPr/>
        </p:nvSpPr>
        <p:spPr>
          <a:xfrm>
            <a:off x="791934" y="3125906"/>
            <a:ext cx="6760029" cy="456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1pPr>
            <a:lvl2pPr marL="914400" marR="0" lvl="1"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2pPr>
            <a:lvl3pPr marL="1371600" marR="0" lvl="2"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3pPr>
            <a:lvl4pPr marL="1828800" marR="0" lvl="3"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4pPr>
            <a:lvl5pPr marL="2286000" marR="0" lvl="4"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5pPr>
            <a:lvl6pPr marL="2743200" marR="0" lvl="5"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6pPr>
            <a:lvl7pPr marL="3200400" marR="0" lvl="6"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7pPr>
            <a:lvl8pPr marL="3657600" marR="0" lvl="7"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8pPr>
            <a:lvl9pPr marL="4114800" marR="0" lvl="8"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9pPr>
          </a:lstStyle>
          <a:p>
            <a:pPr marL="0" marR="0" lvl="0" indent="0" algn="l" defTabSz="914400" rtl="0" eaLnBrk="1" fontAlgn="auto" latinLnBrk="0" hangingPunct="1">
              <a:lnSpc>
                <a:spcPct val="100000"/>
              </a:lnSpc>
              <a:spcBef>
                <a:spcPts val="0"/>
              </a:spcBef>
              <a:spcAft>
                <a:spcPts val="0"/>
              </a:spcAft>
              <a:buClr>
                <a:srgbClr val="15110E"/>
              </a:buClr>
              <a:buSzPts val="2400"/>
              <a:buFont typeface="Alexandria Medium"/>
              <a:buNone/>
              <a:tabLst/>
              <a:defRPr/>
            </a:pPr>
            <a:r>
              <a:rPr kumimoji="0" lang="en-US" sz="1800" b="0" i="0" u="none" strike="noStrike" kern="0" cap="none" spc="0" normalizeH="0" baseline="0" noProof="0" dirty="0">
                <a:ln>
                  <a:noFill/>
                </a:ln>
                <a:solidFill>
                  <a:srgbClr val="15110E"/>
                </a:solidFill>
                <a:effectLst/>
                <a:uLnTx/>
                <a:uFillTx/>
                <a:latin typeface="Alexandria Medium"/>
                <a:cs typeface="Alexandria Medium"/>
                <a:sym typeface="Alexandria Medium"/>
              </a:rPr>
              <a:t>Compare Shared Column between Datasets</a:t>
            </a:r>
          </a:p>
        </p:txBody>
      </p:sp>
      <p:sp>
        <p:nvSpPr>
          <p:cNvPr id="14" name="Google Shape;206;p37">
            <a:extLst>
              <a:ext uri="{FF2B5EF4-FFF2-40B4-BE49-F238E27FC236}">
                <a16:creationId xmlns:a16="http://schemas.microsoft.com/office/drawing/2014/main" id="{587ACD19-4896-DFA8-4BD0-73CD1EC356FE}"/>
              </a:ext>
            </a:extLst>
          </p:cNvPr>
          <p:cNvSpPr txBox="1">
            <a:spLocks/>
          </p:cNvSpPr>
          <p:nvPr/>
        </p:nvSpPr>
        <p:spPr>
          <a:xfrm>
            <a:off x="359570" y="3079556"/>
            <a:ext cx="538500" cy="548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1pPr>
            <a:lvl2pPr marR="0" lvl="1"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2pPr>
            <a:lvl3pPr marR="0" lvl="2"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3pPr>
            <a:lvl4pPr marR="0" lvl="3"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4pPr>
            <a:lvl5pPr marR="0" lvl="4"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5pPr>
            <a:lvl6pPr marR="0" lvl="5"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6pPr>
            <a:lvl7pPr marR="0" lvl="6"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7pPr>
            <a:lvl8pPr marR="0" lvl="7"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8pPr>
            <a:lvl9pPr marR="0" lvl="8"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9pPr>
          </a:lstStyle>
          <a:p>
            <a:pPr algn="ctr"/>
            <a:r>
              <a:rPr lang="en" sz="1800" dirty="0">
                <a:solidFill>
                  <a:srgbClr val="5296B8"/>
                </a:solidFill>
              </a:rPr>
              <a:t>05</a:t>
            </a:r>
            <a:endParaRPr lang="en" dirty="0"/>
          </a:p>
        </p:txBody>
      </p:sp>
      <p:sp>
        <p:nvSpPr>
          <p:cNvPr id="15" name="Google Shape;273;p44">
            <a:extLst>
              <a:ext uri="{FF2B5EF4-FFF2-40B4-BE49-F238E27FC236}">
                <a16:creationId xmlns:a16="http://schemas.microsoft.com/office/drawing/2014/main" id="{87F365D0-9BF9-CD8E-FFD6-2FADA3EB6AB7}"/>
              </a:ext>
            </a:extLst>
          </p:cNvPr>
          <p:cNvSpPr txBox="1"/>
          <p:nvPr/>
        </p:nvSpPr>
        <p:spPr>
          <a:xfrm>
            <a:off x="791934" y="4206581"/>
            <a:ext cx="19284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dirty="0">
                <a:solidFill>
                  <a:schemeClr val="dk1"/>
                </a:solidFill>
                <a:latin typeface="Alexandria Medium"/>
                <a:ea typeface="Alexandria Medium"/>
                <a:cs typeface="Alexandria Medium"/>
                <a:sym typeface="Alexandria Medium"/>
              </a:rPr>
              <a:t>Findings</a:t>
            </a:r>
            <a:endParaRPr sz="1200" b="1" dirty="0">
              <a:solidFill>
                <a:schemeClr val="dk1"/>
              </a:solidFill>
              <a:latin typeface="Alexandria Medium"/>
              <a:ea typeface="Alexandria Medium"/>
              <a:cs typeface="Alexandria Medium"/>
              <a:sym typeface="Alexandria Medium"/>
            </a:endParaRPr>
          </a:p>
        </p:txBody>
      </p:sp>
      <p:sp>
        <p:nvSpPr>
          <p:cNvPr id="16" name="TextBox 15">
            <a:extLst>
              <a:ext uri="{FF2B5EF4-FFF2-40B4-BE49-F238E27FC236}">
                <a16:creationId xmlns:a16="http://schemas.microsoft.com/office/drawing/2014/main" id="{199CE187-5943-B864-40C2-DC02DC0B5E62}"/>
              </a:ext>
            </a:extLst>
          </p:cNvPr>
          <p:cNvSpPr txBox="1"/>
          <p:nvPr/>
        </p:nvSpPr>
        <p:spPr>
          <a:xfrm>
            <a:off x="1618157" y="4206581"/>
            <a:ext cx="6595114" cy="461665"/>
          </a:xfrm>
          <a:prstGeom prst="rect">
            <a:avLst/>
          </a:prstGeom>
          <a:noFill/>
        </p:spPr>
        <p:txBody>
          <a:bodyPr wrap="square">
            <a:spAutoFit/>
          </a:bodyPr>
          <a:lstStyle/>
          <a:p>
            <a:pPr marL="60960" marR="0" lvl="0" algn="just" defTabSz="914400" rtl="0" eaLnBrk="1" fontAlgn="auto" latinLnBrk="0" hangingPunct="1">
              <a:lnSpc>
                <a:spcPct val="100000"/>
              </a:lnSpc>
              <a:spcBef>
                <a:spcPts val="0"/>
              </a:spcBef>
              <a:spcAft>
                <a:spcPts val="0"/>
              </a:spcAft>
              <a:buClr>
                <a:srgbClr val="5296B8"/>
              </a:buClr>
              <a:buSzTx/>
              <a:tabLst/>
              <a:defRPr/>
            </a:pPr>
            <a:r>
              <a:rPr lang="en-US" sz="1200" dirty="0">
                <a:solidFill>
                  <a:schemeClr val="dk1"/>
                </a:solidFill>
                <a:latin typeface="Albert Sans"/>
              </a:rPr>
              <a:t>From all of item in shared column of Province, only </a:t>
            </a:r>
            <a:r>
              <a:rPr lang="en-US" sz="1200" b="1" dirty="0">
                <a:solidFill>
                  <a:schemeClr val="dk1"/>
                </a:solidFill>
                <a:latin typeface="Albert Sans"/>
              </a:rPr>
              <a:t>"Yogyakarta"</a:t>
            </a:r>
            <a:r>
              <a:rPr lang="en-US" sz="1200" dirty="0">
                <a:solidFill>
                  <a:schemeClr val="dk1"/>
                </a:solidFill>
                <a:latin typeface="Albert Sans"/>
              </a:rPr>
              <a:t> has different value, which has </a:t>
            </a:r>
            <a:r>
              <a:rPr lang="en-US" sz="1200" b="1" dirty="0">
                <a:solidFill>
                  <a:schemeClr val="dk1"/>
                </a:solidFill>
                <a:latin typeface="Albert Sans"/>
              </a:rPr>
              <a:t>"DI Yogyakarta"</a:t>
            </a:r>
            <a:r>
              <a:rPr lang="en-US" sz="1200" dirty="0">
                <a:solidFill>
                  <a:schemeClr val="dk1"/>
                </a:solidFill>
                <a:latin typeface="Albert Sans"/>
              </a:rPr>
              <a:t> in the other dataset.</a:t>
            </a:r>
          </a:p>
        </p:txBody>
      </p:sp>
      <p:sp>
        <p:nvSpPr>
          <p:cNvPr id="17" name="Rectangle: Rounded Corners 16">
            <a:extLst>
              <a:ext uri="{FF2B5EF4-FFF2-40B4-BE49-F238E27FC236}">
                <a16:creationId xmlns:a16="http://schemas.microsoft.com/office/drawing/2014/main" id="{AC15AD96-717C-5718-F1DB-F5CC92C70FAF}"/>
              </a:ext>
            </a:extLst>
          </p:cNvPr>
          <p:cNvSpPr/>
          <p:nvPr/>
        </p:nvSpPr>
        <p:spPr>
          <a:xfrm>
            <a:off x="791935" y="2178780"/>
            <a:ext cx="7560131" cy="649038"/>
          </a:xfrm>
          <a:prstGeom prst="roundRect">
            <a:avLst>
              <a:gd name="adj" fmla="val 6807"/>
            </a:avLst>
          </a:prstGeom>
          <a:noFill/>
          <a:ln w="952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D94DD9F3-E909-DA2C-925A-3D3C9C6D1422}"/>
              </a:ext>
            </a:extLst>
          </p:cNvPr>
          <p:cNvSpPr/>
          <p:nvPr/>
        </p:nvSpPr>
        <p:spPr>
          <a:xfrm>
            <a:off x="729700" y="4109687"/>
            <a:ext cx="7560131" cy="649038"/>
          </a:xfrm>
          <a:prstGeom prst="roundRect">
            <a:avLst>
              <a:gd name="adj" fmla="val 6807"/>
            </a:avLst>
          </a:prstGeom>
          <a:noFill/>
          <a:ln w="952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236;p39">
            <a:extLst>
              <a:ext uri="{FF2B5EF4-FFF2-40B4-BE49-F238E27FC236}">
                <a16:creationId xmlns:a16="http://schemas.microsoft.com/office/drawing/2014/main" id="{F45CC9A8-0AC6-5636-E7E7-99630DF54F71}"/>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Data </a:t>
            </a:r>
            <a:r>
              <a:rPr lang="en-US" b="1" dirty="0"/>
              <a:t>Understanding</a:t>
            </a:r>
            <a:endParaRPr lang="en-US" dirty="0"/>
          </a:p>
        </p:txBody>
      </p:sp>
      <p:pic>
        <p:nvPicPr>
          <p:cNvPr id="5" name="Picture 4">
            <a:extLst>
              <a:ext uri="{FF2B5EF4-FFF2-40B4-BE49-F238E27FC236}">
                <a16:creationId xmlns:a16="http://schemas.microsoft.com/office/drawing/2014/main" id="{6880F028-788F-D6B0-2ABA-04356DDFF8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49" y="417633"/>
            <a:ext cx="310244" cy="33999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2" descr="The Best Websites to Learn &amp; Practice SQL | by Nicholas Abell | Medium">
            <a:extLst>
              <a:ext uri="{FF2B5EF4-FFF2-40B4-BE49-F238E27FC236}">
                <a16:creationId xmlns:a16="http://schemas.microsoft.com/office/drawing/2014/main" id="{8C728646-9F37-41DF-3DF2-5A6C8062F7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2061" y="425797"/>
            <a:ext cx="597417" cy="312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1235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68BB51D4-F711-4106-3328-E08667E3783F}"/>
              </a:ext>
            </a:extLst>
          </p:cNvPr>
          <p:cNvSpPr/>
          <p:nvPr/>
        </p:nvSpPr>
        <p:spPr>
          <a:xfrm>
            <a:off x="457200" y="1404201"/>
            <a:ext cx="2171700" cy="462884"/>
          </a:xfrm>
          <a:prstGeom prst="round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15110E"/>
                </a:solidFill>
                <a:latin typeface="Albert Sans" panose="020B0604020202020204" charset="0"/>
              </a:rPr>
              <a:t>indonesia_hospitals.csv</a:t>
            </a:r>
          </a:p>
        </p:txBody>
      </p:sp>
      <p:sp>
        <p:nvSpPr>
          <p:cNvPr id="8" name="Rectangle: Rounded Corners 7">
            <a:extLst>
              <a:ext uri="{FF2B5EF4-FFF2-40B4-BE49-F238E27FC236}">
                <a16:creationId xmlns:a16="http://schemas.microsoft.com/office/drawing/2014/main" id="{6F047E09-3AEF-2657-DAB7-AA6E0E480753}"/>
              </a:ext>
            </a:extLst>
          </p:cNvPr>
          <p:cNvSpPr/>
          <p:nvPr/>
        </p:nvSpPr>
        <p:spPr>
          <a:xfrm>
            <a:off x="3563711" y="1401416"/>
            <a:ext cx="3024868" cy="462884"/>
          </a:xfrm>
          <a:prstGeom prst="round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15110E"/>
                </a:solidFill>
                <a:latin typeface="Albert Sans" panose="020B0604020202020204" charset="0"/>
              </a:rPr>
              <a:t>indonesia_population_2026.csv</a:t>
            </a:r>
          </a:p>
        </p:txBody>
      </p:sp>
      <p:sp>
        <p:nvSpPr>
          <p:cNvPr id="9" name="Rectangle: Rounded Corners 8">
            <a:extLst>
              <a:ext uri="{FF2B5EF4-FFF2-40B4-BE49-F238E27FC236}">
                <a16:creationId xmlns:a16="http://schemas.microsoft.com/office/drawing/2014/main" id="{92A0FC34-7EF7-033E-DD6D-72AB677492EE}"/>
              </a:ext>
            </a:extLst>
          </p:cNvPr>
          <p:cNvSpPr/>
          <p:nvPr/>
        </p:nvSpPr>
        <p:spPr>
          <a:xfrm>
            <a:off x="1657350" y="3279200"/>
            <a:ext cx="2914650" cy="462884"/>
          </a:xfrm>
          <a:prstGeom prst="round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15110E"/>
                </a:solidFill>
                <a:latin typeface="Albert Sans" panose="020B0604020202020204" charset="0"/>
              </a:rPr>
              <a:t>hospital_population_cleaned.csv</a:t>
            </a:r>
          </a:p>
        </p:txBody>
      </p:sp>
      <p:sp>
        <p:nvSpPr>
          <p:cNvPr id="10" name="Rectangle: Rounded Corners 9">
            <a:extLst>
              <a:ext uri="{FF2B5EF4-FFF2-40B4-BE49-F238E27FC236}">
                <a16:creationId xmlns:a16="http://schemas.microsoft.com/office/drawing/2014/main" id="{142B1BF1-5F64-F265-05E0-08A7347C5CF3}"/>
              </a:ext>
            </a:extLst>
          </p:cNvPr>
          <p:cNvSpPr/>
          <p:nvPr/>
        </p:nvSpPr>
        <p:spPr>
          <a:xfrm>
            <a:off x="6412221" y="3279200"/>
            <a:ext cx="2143949" cy="462884"/>
          </a:xfrm>
          <a:prstGeom prst="round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15110E"/>
                </a:solidFill>
                <a:latin typeface="Albert Sans" panose="020B0604020202020204" charset="0"/>
              </a:rPr>
              <a:t>province_summary.xslx</a:t>
            </a:r>
            <a:endParaRPr lang="en-US" dirty="0">
              <a:solidFill>
                <a:srgbClr val="15110E"/>
              </a:solidFill>
              <a:latin typeface="Albert Sans" panose="020B0604020202020204" charset="0"/>
            </a:endParaRPr>
          </a:p>
        </p:txBody>
      </p:sp>
      <p:cxnSp>
        <p:nvCxnSpPr>
          <p:cNvPr id="16" name="Connector: Elbow 15">
            <a:extLst>
              <a:ext uri="{FF2B5EF4-FFF2-40B4-BE49-F238E27FC236}">
                <a16:creationId xmlns:a16="http://schemas.microsoft.com/office/drawing/2014/main" id="{4A08BC0D-9EB5-3915-F0B9-F021DCEED3F5}"/>
              </a:ext>
            </a:extLst>
          </p:cNvPr>
          <p:cNvCxnSpPr>
            <a:cxnSpLocks/>
            <a:stCxn id="7" idx="3"/>
            <a:endCxn id="9" idx="0"/>
          </p:cNvCxnSpPr>
          <p:nvPr/>
        </p:nvCxnSpPr>
        <p:spPr>
          <a:xfrm>
            <a:off x="2628900" y="1635643"/>
            <a:ext cx="485775" cy="1643557"/>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AD4F9FEE-F565-624B-13D0-9F32736FD44A}"/>
              </a:ext>
            </a:extLst>
          </p:cNvPr>
          <p:cNvCxnSpPr>
            <a:cxnSpLocks/>
            <a:stCxn id="8" idx="1"/>
            <a:endCxn id="9" idx="0"/>
          </p:cNvCxnSpPr>
          <p:nvPr/>
        </p:nvCxnSpPr>
        <p:spPr>
          <a:xfrm rot="10800000" flipV="1">
            <a:off x="3114675" y="1632858"/>
            <a:ext cx="449036" cy="1646342"/>
          </a:xfrm>
          <a:prstGeom prst="bentConnector2">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707D6B3-AA21-A460-886A-606A03EC65F4}"/>
              </a:ext>
            </a:extLst>
          </p:cNvPr>
          <p:cNvCxnSpPr>
            <a:cxnSpLocks/>
            <a:stCxn id="9" idx="3"/>
            <a:endCxn id="10" idx="1"/>
          </p:cNvCxnSpPr>
          <p:nvPr/>
        </p:nvCxnSpPr>
        <p:spPr>
          <a:xfrm>
            <a:off x="4572000" y="3510642"/>
            <a:ext cx="1840221" cy="0"/>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2" name="Google Shape;266;p43">
            <a:extLst>
              <a:ext uri="{FF2B5EF4-FFF2-40B4-BE49-F238E27FC236}">
                <a16:creationId xmlns:a16="http://schemas.microsoft.com/office/drawing/2014/main" id="{4BF51288-8290-32CB-95FB-0EEBAA4476BC}"/>
              </a:ext>
            </a:extLst>
          </p:cNvPr>
          <p:cNvSpPr txBox="1">
            <a:spLocks/>
          </p:cNvSpPr>
          <p:nvPr/>
        </p:nvSpPr>
        <p:spPr>
          <a:xfrm>
            <a:off x="3624940" y="2413122"/>
            <a:ext cx="2196194" cy="456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1pPr>
            <a:lvl2pPr marL="914400" marR="0" lvl="1"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2pPr>
            <a:lvl3pPr marL="1371600" marR="0" lvl="2"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3pPr>
            <a:lvl4pPr marL="1828800" marR="0" lvl="3"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4pPr>
            <a:lvl5pPr marL="2286000" marR="0" lvl="4"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5pPr>
            <a:lvl6pPr marL="2743200" marR="0" lvl="5"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6pPr>
            <a:lvl7pPr marL="3200400" marR="0" lvl="6"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7pPr>
            <a:lvl8pPr marL="3657600" marR="0" lvl="7"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8pPr>
            <a:lvl9pPr marL="4114800" marR="0" lvl="8"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9pPr>
          </a:lstStyle>
          <a:p>
            <a:pPr marL="0" marR="0" lvl="0" indent="0" algn="l" defTabSz="914400" rtl="0" eaLnBrk="1" fontAlgn="auto" latinLnBrk="0" hangingPunct="1">
              <a:lnSpc>
                <a:spcPct val="100000"/>
              </a:lnSpc>
              <a:spcBef>
                <a:spcPts val="0"/>
              </a:spcBef>
              <a:spcAft>
                <a:spcPts val="0"/>
              </a:spcAft>
              <a:buClr>
                <a:srgbClr val="15110E"/>
              </a:buClr>
              <a:buSzPts val="2400"/>
              <a:buFont typeface="Alexandria Medium"/>
              <a:buNone/>
              <a:tabLst/>
              <a:defRPr/>
            </a:pPr>
            <a:r>
              <a:rPr kumimoji="0" lang="en-US" sz="1400" b="0" i="0" u="none" strike="noStrike" kern="0" cap="none" spc="0" normalizeH="0" baseline="0" noProof="0" dirty="0">
                <a:ln>
                  <a:noFill/>
                </a:ln>
                <a:solidFill>
                  <a:srgbClr val="15110E"/>
                </a:solidFill>
                <a:effectLst/>
                <a:uLnTx/>
                <a:uFillTx/>
                <a:latin typeface="Alexandria Medium"/>
                <a:cs typeface="Alexandria Medium"/>
                <a:sym typeface="Alexandria Medium"/>
              </a:rPr>
              <a:t>Data Cleaning and Formatting</a:t>
            </a:r>
          </a:p>
        </p:txBody>
      </p:sp>
      <p:sp>
        <p:nvSpPr>
          <p:cNvPr id="23" name="Google Shape;206;p37">
            <a:extLst>
              <a:ext uri="{FF2B5EF4-FFF2-40B4-BE49-F238E27FC236}">
                <a16:creationId xmlns:a16="http://schemas.microsoft.com/office/drawing/2014/main" id="{7C73B6F4-EDE0-FC15-1614-6DF298AD4C43}"/>
              </a:ext>
            </a:extLst>
          </p:cNvPr>
          <p:cNvSpPr txBox="1">
            <a:spLocks noGrp="1"/>
          </p:cNvSpPr>
          <p:nvPr>
            <p:ph type="title"/>
          </p:nvPr>
        </p:nvSpPr>
        <p:spPr>
          <a:xfrm>
            <a:off x="3156319" y="2320421"/>
            <a:ext cx="5385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kumimoji="0" lang="en" sz="1800" b="0" i="0" u="none" strike="noStrike" kern="0" cap="none" spc="0" normalizeH="0" baseline="0" noProof="0" dirty="0">
                <a:ln>
                  <a:noFill/>
                </a:ln>
                <a:solidFill>
                  <a:srgbClr val="5296B8"/>
                </a:solidFill>
                <a:effectLst/>
                <a:uLnTx/>
                <a:uFillTx/>
                <a:latin typeface="Alexandria Medium"/>
                <a:cs typeface="Alexandria Medium"/>
                <a:sym typeface="Alexandria Medium"/>
              </a:rPr>
              <a:t>01</a:t>
            </a:r>
            <a:endParaRPr dirty="0"/>
          </a:p>
        </p:txBody>
      </p:sp>
      <p:sp>
        <p:nvSpPr>
          <p:cNvPr id="24" name="Google Shape;266;p43">
            <a:extLst>
              <a:ext uri="{FF2B5EF4-FFF2-40B4-BE49-F238E27FC236}">
                <a16:creationId xmlns:a16="http://schemas.microsoft.com/office/drawing/2014/main" id="{CE9A8D27-ED80-2089-5874-E7E5C79CF538}"/>
              </a:ext>
            </a:extLst>
          </p:cNvPr>
          <p:cNvSpPr txBox="1">
            <a:spLocks/>
          </p:cNvSpPr>
          <p:nvPr/>
        </p:nvSpPr>
        <p:spPr>
          <a:xfrm>
            <a:off x="4057647" y="4112697"/>
            <a:ext cx="3045279" cy="456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Alexandria Medium"/>
              <a:buNone/>
              <a:defRPr sz="1800" b="0" i="0" u="none" strike="noStrike" cap="none">
                <a:solidFill>
                  <a:schemeClr val="dk1"/>
                </a:solidFill>
                <a:latin typeface="Alexandria Medium"/>
                <a:ea typeface="Alexandria Medium"/>
                <a:cs typeface="Alexandria Medium"/>
                <a:sym typeface="Alexandria Medium"/>
              </a:defRPr>
            </a:lvl1pPr>
            <a:lvl2pPr marL="914400" marR="0" lvl="1"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2pPr>
            <a:lvl3pPr marL="1371600" marR="0" lvl="2"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3pPr>
            <a:lvl4pPr marL="1828800" marR="0" lvl="3"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4pPr>
            <a:lvl5pPr marL="2286000" marR="0" lvl="4"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5pPr>
            <a:lvl6pPr marL="2743200" marR="0" lvl="5"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6pPr>
            <a:lvl7pPr marL="3200400" marR="0" lvl="6"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7pPr>
            <a:lvl8pPr marL="3657600" marR="0" lvl="7"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8pPr>
            <a:lvl9pPr marL="4114800" marR="0" lvl="8"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9pPr>
          </a:lstStyle>
          <a:p>
            <a:pPr marL="0" indent="0" algn="ctr"/>
            <a:r>
              <a:rPr lang="en-US" sz="1400" dirty="0"/>
              <a:t>Prepare Key Indicator using Business Questions</a:t>
            </a:r>
          </a:p>
        </p:txBody>
      </p:sp>
      <p:sp>
        <p:nvSpPr>
          <p:cNvPr id="25" name="Google Shape;206;p37">
            <a:extLst>
              <a:ext uri="{FF2B5EF4-FFF2-40B4-BE49-F238E27FC236}">
                <a16:creationId xmlns:a16="http://schemas.microsoft.com/office/drawing/2014/main" id="{195623C8-F0BF-333E-0486-C0474C5D4F40}"/>
              </a:ext>
            </a:extLst>
          </p:cNvPr>
          <p:cNvSpPr txBox="1">
            <a:spLocks/>
          </p:cNvSpPr>
          <p:nvPr/>
        </p:nvSpPr>
        <p:spPr>
          <a:xfrm>
            <a:off x="5231025" y="3563997"/>
            <a:ext cx="538500" cy="548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Alexandria Medium"/>
              <a:buNone/>
              <a:defRPr sz="7000" b="0" i="0" u="none" strike="noStrike" cap="none">
                <a:solidFill>
                  <a:schemeClr val="dk1"/>
                </a:solidFill>
                <a:latin typeface="Alexandria Medium"/>
                <a:ea typeface="Alexandria Medium"/>
                <a:cs typeface="Alexandria Medium"/>
                <a:sym typeface="Alexandria Medium"/>
              </a:defRPr>
            </a:lvl1pPr>
            <a:lvl2pPr marR="0" lvl="1"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2pPr>
            <a:lvl3pPr marR="0" lvl="2"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3pPr>
            <a:lvl4pPr marR="0" lvl="3"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4pPr>
            <a:lvl5pPr marR="0" lvl="4"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5pPr>
            <a:lvl6pPr marR="0" lvl="5"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6pPr>
            <a:lvl7pPr marR="0" lvl="6"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7pPr>
            <a:lvl8pPr marR="0" lvl="7"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8pPr>
            <a:lvl9pPr marR="0" lvl="8" algn="ctr" rtl="0">
              <a:lnSpc>
                <a:spcPct val="100000"/>
              </a:lnSpc>
              <a:spcBef>
                <a:spcPts val="0"/>
              </a:spcBef>
              <a:spcAft>
                <a:spcPts val="0"/>
              </a:spcAft>
              <a:buClr>
                <a:schemeClr val="dk1"/>
              </a:buClr>
              <a:buSzPts val="3600"/>
              <a:buFont typeface="Alexandria Medium"/>
              <a:buNone/>
              <a:defRPr sz="3600" b="0" i="0" u="none" strike="noStrike" cap="none">
                <a:solidFill>
                  <a:schemeClr val="dk1"/>
                </a:solidFill>
                <a:latin typeface="Alexandria Medium"/>
                <a:ea typeface="Alexandria Medium"/>
                <a:cs typeface="Alexandria Medium"/>
                <a:sym typeface="Alexandria Medium"/>
              </a:defRPr>
            </a:lvl9pPr>
          </a:lstStyle>
          <a:p>
            <a:pPr algn="ctr"/>
            <a:r>
              <a:rPr lang="en" sz="1800" dirty="0">
                <a:solidFill>
                  <a:srgbClr val="5296B8"/>
                </a:solidFill>
              </a:rPr>
              <a:t>02</a:t>
            </a:r>
            <a:endParaRPr lang="en" dirty="0"/>
          </a:p>
        </p:txBody>
      </p:sp>
      <p:sp>
        <p:nvSpPr>
          <p:cNvPr id="26" name="Google Shape;585;p65">
            <a:extLst>
              <a:ext uri="{FF2B5EF4-FFF2-40B4-BE49-F238E27FC236}">
                <a16:creationId xmlns:a16="http://schemas.microsoft.com/office/drawing/2014/main" id="{30A8DA43-BEF6-BED4-6DA8-25177B90A012}"/>
              </a:ext>
            </a:extLst>
          </p:cNvPr>
          <p:cNvSpPr/>
          <p:nvPr/>
        </p:nvSpPr>
        <p:spPr>
          <a:xfrm>
            <a:off x="3061609" y="2511300"/>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85;p65">
            <a:extLst>
              <a:ext uri="{FF2B5EF4-FFF2-40B4-BE49-F238E27FC236}">
                <a16:creationId xmlns:a16="http://schemas.microsoft.com/office/drawing/2014/main" id="{87AC816A-F232-A205-9DBA-8616FCD10748}"/>
              </a:ext>
            </a:extLst>
          </p:cNvPr>
          <p:cNvSpPr/>
          <p:nvPr/>
        </p:nvSpPr>
        <p:spPr>
          <a:xfrm>
            <a:off x="5439825" y="3450192"/>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236;p39">
            <a:extLst>
              <a:ext uri="{FF2B5EF4-FFF2-40B4-BE49-F238E27FC236}">
                <a16:creationId xmlns:a16="http://schemas.microsoft.com/office/drawing/2014/main" id="{074835BD-CBDC-E030-F721-9FB14B5B8FCF}"/>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Data </a:t>
            </a:r>
            <a:r>
              <a:rPr lang="en-US" b="1" dirty="0"/>
              <a:t>Preparation</a:t>
            </a:r>
            <a:endParaRPr lang="en-US" dirty="0"/>
          </a:p>
        </p:txBody>
      </p:sp>
    </p:spTree>
    <p:extLst>
      <p:ext uri="{BB962C8B-B14F-4D97-AF65-F5344CB8AC3E}">
        <p14:creationId xmlns:p14="http://schemas.microsoft.com/office/powerpoint/2010/main" val="1920987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15" name="Google Shape;515;p61"/>
          <p:cNvSpPr/>
          <p:nvPr/>
        </p:nvSpPr>
        <p:spPr>
          <a:xfrm>
            <a:off x="1000324" y="2249135"/>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61"/>
          <p:cNvSpPr txBox="1"/>
          <p:nvPr/>
        </p:nvSpPr>
        <p:spPr>
          <a:xfrm>
            <a:off x="1273628" y="2080995"/>
            <a:ext cx="4696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dirty="0">
                <a:solidFill>
                  <a:schemeClr val="dk1"/>
                </a:solidFill>
                <a:latin typeface="Alexandria Medium"/>
                <a:ea typeface="Alexandria Medium"/>
                <a:cs typeface="Alexandria Medium"/>
                <a:sym typeface="Alexandria Medium"/>
              </a:rPr>
              <a:t>Handling null values</a:t>
            </a:r>
            <a:endParaRPr sz="1600" dirty="0">
              <a:solidFill>
                <a:schemeClr val="dk1"/>
              </a:solidFill>
              <a:latin typeface="Alexandria Medium"/>
              <a:ea typeface="Alexandria Medium"/>
              <a:cs typeface="Alexandria Medium"/>
              <a:sym typeface="Alexandria Medium"/>
            </a:endParaRPr>
          </a:p>
        </p:txBody>
      </p:sp>
      <p:sp>
        <p:nvSpPr>
          <p:cNvPr id="517" name="Google Shape;517;p61"/>
          <p:cNvSpPr/>
          <p:nvPr/>
        </p:nvSpPr>
        <p:spPr>
          <a:xfrm>
            <a:off x="1000324" y="2706335"/>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61"/>
          <p:cNvSpPr txBox="1"/>
          <p:nvPr/>
        </p:nvSpPr>
        <p:spPr>
          <a:xfrm>
            <a:off x="1273628" y="2538195"/>
            <a:ext cx="4696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dirty="0">
                <a:solidFill>
                  <a:schemeClr val="dk1"/>
                </a:solidFill>
                <a:latin typeface="Alexandria Medium"/>
                <a:ea typeface="Alexandria Medium"/>
                <a:cs typeface="Alexandria Medium"/>
                <a:sym typeface="Alexandria Medium"/>
              </a:rPr>
              <a:t>Handling zero or negative numbers</a:t>
            </a:r>
            <a:endParaRPr sz="1600" dirty="0">
              <a:solidFill>
                <a:schemeClr val="dk1"/>
              </a:solidFill>
              <a:latin typeface="Alexandria Medium"/>
              <a:ea typeface="Alexandria Medium"/>
              <a:cs typeface="Alexandria Medium"/>
              <a:sym typeface="Alexandria Medium"/>
            </a:endParaRPr>
          </a:p>
        </p:txBody>
      </p:sp>
      <p:sp>
        <p:nvSpPr>
          <p:cNvPr id="519" name="Google Shape;519;p61"/>
          <p:cNvSpPr/>
          <p:nvPr/>
        </p:nvSpPr>
        <p:spPr>
          <a:xfrm>
            <a:off x="1000324" y="3163535"/>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61"/>
          <p:cNvSpPr txBox="1"/>
          <p:nvPr/>
        </p:nvSpPr>
        <p:spPr>
          <a:xfrm>
            <a:off x="1273628" y="2995395"/>
            <a:ext cx="4696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dirty="0">
                <a:solidFill>
                  <a:schemeClr val="dk1"/>
                </a:solidFill>
                <a:latin typeface="Alexandria Medium"/>
                <a:ea typeface="Alexandria Medium"/>
                <a:cs typeface="Alexandria Medium"/>
                <a:sym typeface="Alexandria Medium"/>
              </a:rPr>
              <a:t>Handling outlier anomalies</a:t>
            </a:r>
            <a:endParaRPr sz="1600" dirty="0">
              <a:solidFill>
                <a:schemeClr val="dk1"/>
              </a:solidFill>
              <a:latin typeface="Alexandria Medium"/>
              <a:ea typeface="Alexandria Medium"/>
              <a:cs typeface="Alexandria Medium"/>
              <a:sym typeface="Alexandria Medium"/>
            </a:endParaRPr>
          </a:p>
        </p:txBody>
      </p:sp>
      <p:sp>
        <p:nvSpPr>
          <p:cNvPr id="521" name="Google Shape;521;p61"/>
          <p:cNvSpPr/>
          <p:nvPr/>
        </p:nvSpPr>
        <p:spPr>
          <a:xfrm>
            <a:off x="1000324" y="3620735"/>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61"/>
          <p:cNvSpPr txBox="1"/>
          <p:nvPr/>
        </p:nvSpPr>
        <p:spPr>
          <a:xfrm>
            <a:off x="1273627" y="3452595"/>
            <a:ext cx="5251197"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600" dirty="0">
                <a:solidFill>
                  <a:schemeClr val="dk1"/>
                </a:solidFill>
                <a:latin typeface="Alexandria Medium"/>
                <a:ea typeface="Alexandria Medium"/>
                <a:cs typeface="Alexandria Medium"/>
                <a:sym typeface="Alexandria Medium"/>
              </a:rPr>
              <a:t>Standardize Province Names</a:t>
            </a:r>
          </a:p>
        </p:txBody>
      </p:sp>
      <p:cxnSp>
        <p:nvCxnSpPr>
          <p:cNvPr id="526" name="Google Shape;526;p61"/>
          <p:cNvCxnSpPr>
            <a:cxnSpLocks/>
            <a:stCxn id="515" idx="2"/>
            <a:endCxn id="517" idx="0"/>
          </p:cNvCxnSpPr>
          <p:nvPr/>
        </p:nvCxnSpPr>
        <p:spPr>
          <a:xfrm>
            <a:off x="1060774" y="2370035"/>
            <a:ext cx="0" cy="336300"/>
          </a:xfrm>
          <a:prstGeom prst="straightConnector1">
            <a:avLst/>
          </a:prstGeom>
          <a:noFill/>
          <a:ln w="9525" cap="flat" cmpd="sng">
            <a:solidFill>
              <a:schemeClr val="dk1"/>
            </a:solidFill>
            <a:prstDash val="solid"/>
            <a:round/>
            <a:headEnd type="none" w="med" len="med"/>
            <a:tailEnd type="none" w="med" len="med"/>
          </a:ln>
        </p:spPr>
      </p:cxnSp>
      <p:cxnSp>
        <p:nvCxnSpPr>
          <p:cNvPr id="527" name="Google Shape;527;p61"/>
          <p:cNvCxnSpPr>
            <a:stCxn id="517" idx="2"/>
            <a:endCxn id="519" idx="0"/>
          </p:cNvCxnSpPr>
          <p:nvPr/>
        </p:nvCxnSpPr>
        <p:spPr>
          <a:xfrm>
            <a:off x="1060774" y="2827235"/>
            <a:ext cx="0" cy="336300"/>
          </a:xfrm>
          <a:prstGeom prst="straightConnector1">
            <a:avLst/>
          </a:prstGeom>
          <a:noFill/>
          <a:ln w="9525" cap="flat" cmpd="sng">
            <a:solidFill>
              <a:schemeClr val="dk1"/>
            </a:solidFill>
            <a:prstDash val="solid"/>
            <a:round/>
            <a:headEnd type="none" w="med" len="med"/>
            <a:tailEnd type="none" w="med" len="med"/>
          </a:ln>
        </p:spPr>
      </p:cxnSp>
      <p:cxnSp>
        <p:nvCxnSpPr>
          <p:cNvPr id="528" name="Google Shape;528;p61"/>
          <p:cNvCxnSpPr>
            <a:stCxn id="519" idx="2"/>
            <a:endCxn id="521" idx="0"/>
          </p:cNvCxnSpPr>
          <p:nvPr/>
        </p:nvCxnSpPr>
        <p:spPr>
          <a:xfrm>
            <a:off x="1060774" y="3284435"/>
            <a:ext cx="0" cy="336300"/>
          </a:xfrm>
          <a:prstGeom prst="straightConnector1">
            <a:avLst/>
          </a:prstGeom>
          <a:noFill/>
          <a:ln w="9525" cap="flat" cmpd="sng">
            <a:solidFill>
              <a:schemeClr val="dk1"/>
            </a:solidFill>
            <a:prstDash val="solid"/>
            <a:round/>
            <a:headEnd type="none" w="med" len="med"/>
            <a:tailEnd type="none" w="med" len="med"/>
          </a:ln>
        </p:spPr>
      </p:cxnSp>
      <p:sp>
        <p:nvSpPr>
          <p:cNvPr id="2" name="Google Shape;263;p43">
            <a:extLst>
              <a:ext uri="{FF2B5EF4-FFF2-40B4-BE49-F238E27FC236}">
                <a16:creationId xmlns:a16="http://schemas.microsoft.com/office/drawing/2014/main" id="{3623DA9E-55AE-4BAA-80FF-9A6AC53D98D0}"/>
              </a:ext>
            </a:extLst>
          </p:cNvPr>
          <p:cNvSpPr txBox="1">
            <a:spLocks/>
          </p:cNvSpPr>
          <p:nvPr/>
        </p:nvSpPr>
        <p:spPr>
          <a:xfrm>
            <a:off x="715096" y="1355381"/>
            <a:ext cx="7713700" cy="638643"/>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just" defTabSz="914400" rtl="0" eaLnBrk="1" fontAlgn="auto" latinLnBrk="0" hangingPunct="1">
              <a:lnSpc>
                <a:spcPct val="100000"/>
              </a:lnSpc>
              <a:spcBef>
                <a:spcPts val="0"/>
              </a:spcBef>
              <a:spcAft>
                <a:spcPts val="0"/>
              </a:spcAft>
              <a:buClr>
                <a:srgbClr val="15110E"/>
              </a:buClr>
              <a:buSzPts val="1600"/>
              <a:buFont typeface="Albert Sans"/>
              <a:buNone/>
              <a:tabLst/>
              <a:defRPr/>
            </a:pPr>
            <a:r>
              <a:rPr kumimoji="0" lang="en-US" sz="1400" b="0" i="0" u="none" strike="noStrike" kern="0" cap="none" spc="0" normalizeH="0" baseline="0" noProof="0" dirty="0">
                <a:ln>
                  <a:noFill/>
                </a:ln>
                <a:solidFill>
                  <a:srgbClr val="15110E"/>
                </a:solidFill>
                <a:effectLst/>
                <a:uLnTx/>
                <a:uFillTx/>
                <a:latin typeface="Albert Sans"/>
                <a:sym typeface="Albert Sans"/>
              </a:rPr>
              <a:t>Perform data cleaning based on the findings from the Data Understanding phase. In addition, reformat the datasets to improve consistency and simplify further analysis.</a:t>
            </a:r>
          </a:p>
        </p:txBody>
      </p:sp>
      <p:sp>
        <p:nvSpPr>
          <p:cNvPr id="6" name="Google Shape;266;p43">
            <a:extLst>
              <a:ext uri="{FF2B5EF4-FFF2-40B4-BE49-F238E27FC236}">
                <a16:creationId xmlns:a16="http://schemas.microsoft.com/office/drawing/2014/main" id="{7CC19475-8E31-81F6-FA0B-32B21090A88E}"/>
              </a:ext>
            </a:extLst>
          </p:cNvPr>
          <p:cNvSpPr txBox="1">
            <a:spLocks/>
          </p:cNvSpPr>
          <p:nvPr/>
        </p:nvSpPr>
        <p:spPr>
          <a:xfrm>
            <a:off x="791935" y="940346"/>
            <a:ext cx="5930100" cy="456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1pPr>
            <a:lvl2pPr marL="914400" marR="0" lvl="1"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2pPr>
            <a:lvl3pPr marL="1371600" marR="0" lvl="2"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3pPr>
            <a:lvl4pPr marL="1828800" marR="0" lvl="3"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4pPr>
            <a:lvl5pPr marL="2286000" marR="0" lvl="4"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5pPr>
            <a:lvl6pPr marL="2743200" marR="0" lvl="5"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6pPr>
            <a:lvl7pPr marL="3200400" marR="0" lvl="6"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7pPr>
            <a:lvl8pPr marL="3657600" marR="0" lvl="7"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8pPr>
            <a:lvl9pPr marL="4114800" marR="0" lvl="8"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9pPr>
          </a:lstStyle>
          <a:p>
            <a:pPr marL="0" marR="0" lvl="0" indent="0" algn="l" defTabSz="914400" rtl="0" eaLnBrk="1" fontAlgn="auto" latinLnBrk="0" hangingPunct="1">
              <a:lnSpc>
                <a:spcPct val="100000"/>
              </a:lnSpc>
              <a:spcBef>
                <a:spcPts val="0"/>
              </a:spcBef>
              <a:spcAft>
                <a:spcPts val="0"/>
              </a:spcAft>
              <a:buClr>
                <a:srgbClr val="15110E"/>
              </a:buClr>
              <a:buSzPts val="2400"/>
              <a:buFont typeface="Alexandria Medium"/>
              <a:buNone/>
              <a:tabLst/>
              <a:defRPr/>
            </a:pPr>
            <a:r>
              <a:rPr kumimoji="0" lang="en-US" sz="1800" b="0" i="0" u="none" strike="noStrike" kern="0" cap="none" spc="0" normalizeH="0" baseline="0" noProof="0" dirty="0">
                <a:ln>
                  <a:noFill/>
                </a:ln>
                <a:solidFill>
                  <a:srgbClr val="15110E"/>
                </a:solidFill>
                <a:effectLst/>
                <a:uLnTx/>
                <a:uFillTx/>
                <a:latin typeface="Alexandria Medium"/>
                <a:cs typeface="Alexandria Medium"/>
                <a:sym typeface="Alexandria Medium"/>
              </a:rPr>
              <a:t>Data Cleaning and Formatting</a:t>
            </a:r>
          </a:p>
        </p:txBody>
      </p:sp>
      <p:sp>
        <p:nvSpPr>
          <p:cNvPr id="7" name="Google Shape;206;p37">
            <a:extLst>
              <a:ext uri="{FF2B5EF4-FFF2-40B4-BE49-F238E27FC236}">
                <a16:creationId xmlns:a16="http://schemas.microsoft.com/office/drawing/2014/main" id="{A1A66860-5C8A-40C4-E02C-D47519FB542A}"/>
              </a:ext>
            </a:extLst>
          </p:cNvPr>
          <p:cNvSpPr txBox="1">
            <a:spLocks noGrp="1"/>
          </p:cNvSpPr>
          <p:nvPr>
            <p:ph type="title"/>
          </p:nvPr>
        </p:nvSpPr>
        <p:spPr>
          <a:xfrm>
            <a:off x="359570" y="893996"/>
            <a:ext cx="5385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kumimoji="0" lang="en" sz="1800" b="0" i="0" u="none" strike="noStrike" kern="0" cap="none" spc="0" normalizeH="0" baseline="0" noProof="0" dirty="0">
                <a:ln>
                  <a:noFill/>
                </a:ln>
                <a:solidFill>
                  <a:srgbClr val="5296B8"/>
                </a:solidFill>
                <a:effectLst/>
                <a:uLnTx/>
                <a:uFillTx/>
                <a:latin typeface="Alexandria Medium"/>
                <a:cs typeface="Alexandria Medium"/>
                <a:sym typeface="Alexandria Medium"/>
              </a:rPr>
              <a:t>01</a:t>
            </a:r>
            <a:endParaRPr dirty="0"/>
          </a:p>
        </p:txBody>
      </p:sp>
      <p:sp>
        <p:nvSpPr>
          <p:cNvPr id="10" name="Google Shape;521;p61">
            <a:extLst>
              <a:ext uri="{FF2B5EF4-FFF2-40B4-BE49-F238E27FC236}">
                <a16:creationId xmlns:a16="http://schemas.microsoft.com/office/drawing/2014/main" id="{761C1832-D135-FC4C-C408-D115A9C13ADC}"/>
              </a:ext>
            </a:extLst>
          </p:cNvPr>
          <p:cNvSpPr/>
          <p:nvPr/>
        </p:nvSpPr>
        <p:spPr>
          <a:xfrm>
            <a:off x="1000324" y="4077935"/>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 name="Google Shape;528;p61">
            <a:extLst>
              <a:ext uri="{FF2B5EF4-FFF2-40B4-BE49-F238E27FC236}">
                <a16:creationId xmlns:a16="http://schemas.microsoft.com/office/drawing/2014/main" id="{3FA1AC7C-0367-43D9-1F82-2A0609606A31}"/>
              </a:ext>
            </a:extLst>
          </p:cNvPr>
          <p:cNvCxnSpPr>
            <a:endCxn id="10" idx="0"/>
          </p:cNvCxnSpPr>
          <p:nvPr/>
        </p:nvCxnSpPr>
        <p:spPr>
          <a:xfrm>
            <a:off x="1060774" y="3741635"/>
            <a:ext cx="0" cy="336300"/>
          </a:xfrm>
          <a:prstGeom prst="straightConnector1">
            <a:avLst/>
          </a:prstGeom>
          <a:noFill/>
          <a:ln w="9525" cap="flat" cmpd="sng">
            <a:solidFill>
              <a:schemeClr val="dk1"/>
            </a:solidFill>
            <a:prstDash val="solid"/>
            <a:round/>
            <a:headEnd type="none" w="med" len="med"/>
            <a:tailEnd type="none" w="med" len="med"/>
          </a:ln>
        </p:spPr>
      </p:cxnSp>
      <p:sp>
        <p:nvSpPr>
          <p:cNvPr id="12" name="Google Shape;522;p61">
            <a:extLst>
              <a:ext uri="{FF2B5EF4-FFF2-40B4-BE49-F238E27FC236}">
                <a16:creationId xmlns:a16="http://schemas.microsoft.com/office/drawing/2014/main" id="{E1850F6B-EE75-8B87-D6BD-E59D870E4658}"/>
              </a:ext>
            </a:extLst>
          </p:cNvPr>
          <p:cNvSpPr txBox="1"/>
          <p:nvPr/>
        </p:nvSpPr>
        <p:spPr>
          <a:xfrm>
            <a:off x="1273627" y="3909785"/>
            <a:ext cx="4454999"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600" dirty="0">
                <a:solidFill>
                  <a:schemeClr val="dk1"/>
                </a:solidFill>
                <a:latin typeface="Alexandria Medium"/>
                <a:ea typeface="Alexandria Medium"/>
                <a:cs typeface="Alexandria Medium"/>
                <a:sym typeface="Alexandria Medium"/>
              </a:rPr>
              <a:t>Merge datasets</a:t>
            </a:r>
          </a:p>
        </p:txBody>
      </p:sp>
      <p:sp>
        <p:nvSpPr>
          <p:cNvPr id="3" name="Google Shape;236;p39">
            <a:extLst>
              <a:ext uri="{FF2B5EF4-FFF2-40B4-BE49-F238E27FC236}">
                <a16:creationId xmlns:a16="http://schemas.microsoft.com/office/drawing/2014/main" id="{E6D5A93D-6C1A-3106-76F4-EEEC2BF64661}"/>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Data </a:t>
            </a:r>
            <a:r>
              <a:rPr lang="en-US" b="1" dirty="0"/>
              <a:t>Preparation</a:t>
            </a:r>
            <a:endParaRPr lang="en-US" dirty="0"/>
          </a:p>
        </p:txBody>
      </p:sp>
      <p:pic>
        <p:nvPicPr>
          <p:cNvPr id="13" name="Picture 12">
            <a:extLst>
              <a:ext uri="{FF2B5EF4-FFF2-40B4-BE49-F238E27FC236}">
                <a16:creationId xmlns:a16="http://schemas.microsoft.com/office/drawing/2014/main" id="{CA2BD02A-1E77-84DA-B1FB-75BB9F86DB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49" y="417633"/>
            <a:ext cx="310244" cy="33999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2" descr="The Best Websites to Learn &amp; Practice SQL | by Nicholas Abell | Medium">
            <a:extLst>
              <a:ext uri="{FF2B5EF4-FFF2-40B4-BE49-F238E27FC236}">
                <a16:creationId xmlns:a16="http://schemas.microsoft.com/office/drawing/2014/main" id="{3CBA7B49-3E13-6B74-1D2C-D1FED349DF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2061" y="425797"/>
            <a:ext cx="597417" cy="312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6054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7" name="Google Shape;357;p48"/>
          <p:cNvSpPr txBox="1">
            <a:spLocks noGrp="1"/>
          </p:cNvSpPr>
          <p:nvPr>
            <p:ph type="subTitle" idx="2"/>
          </p:nvPr>
        </p:nvSpPr>
        <p:spPr>
          <a:xfrm>
            <a:off x="715099" y="3721400"/>
            <a:ext cx="3570772" cy="887100"/>
          </a:xfrm>
          <a:prstGeom prst="rect">
            <a:avLst/>
          </a:prstGeom>
        </p:spPr>
        <p:txBody>
          <a:bodyPr spcFirstLastPara="1" wrap="square" lIns="91425" tIns="91425" rIns="91425" bIns="91425" anchor="t" anchorCtr="0">
            <a:noAutofit/>
          </a:bodyPr>
          <a:lstStyle/>
          <a:p>
            <a:pPr marL="0" indent="0"/>
            <a:r>
              <a:rPr lang="en-US" dirty="0"/>
              <a:t>Evaluates whether hospital bed capacity is sufficient relative to the size of the population.</a:t>
            </a:r>
          </a:p>
        </p:txBody>
      </p:sp>
      <p:sp>
        <p:nvSpPr>
          <p:cNvPr id="355" name="Google Shape;355;p48"/>
          <p:cNvSpPr txBox="1">
            <a:spLocks noGrp="1"/>
          </p:cNvSpPr>
          <p:nvPr>
            <p:ph type="subTitle" idx="1"/>
          </p:nvPr>
        </p:nvSpPr>
        <p:spPr>
          <a:xfrm>
            <a:off x="715099" y="2179100"/>
            <a:ext cx="3570772" cy="88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Measures the distribution of healthcare facilities and identifies provinces with higher or lower hospital availability.</a:t>
            </a:r>
          </a:p>
        </p:txBody>
      </p:sp>
      <p:sp>
        <p:nvSpPr>
          <p:cNvPr id="358" name="Google Shape;358;p48"/>
          <p:cNvSpPr txBox="1">
            <a:spLocks noGrp="1"/>
          </p:cNvSpPr>
          <p:nvPr>
            <p:ph type="subTitle" idx="3"/>
          </p:nvPr>
        </p:nvSpPr>
        <p:spPr>
          <a:xfrm>
            <a:off x="715099" y="1523900"/>
            <a:ext cx="3570772" cy="73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400" b="1" dirty="0"/>
              <a:t>How many hospitals are there in each province?</a:t>
            </a:r>
          </a:p>
        </p:txBody>
      </p:sp>
      <p:sp>
        <p:nvSpPr>
          <p:cNvPr id="359" name="Google Shape;359;p48"/>
          <p:cNvSpPr txBox="1">
            <a:spLocks noGrp="1"/>
          </p:cNvSpPr>
          <p:nvPr>
            <p:ph type="subTitle" idx="4"/>
          </p:nvPr>
        </p:nvSpPr>
        <p:spPr>
          <a:xfrm>
            <a:off x="715099" y="3066200"/>
            <a:ext cx="3570772" cy="731400"/>
          </a:xfrm>
          <a:prstGeom prst="rect">
            <a:avLst/>
          </a:prstGeom>
        </p:spPr>
        <p:txBody>
          <a:bodyPr spcFirstLastPara="1" wrap="square" lIns="91425" tIns="91425" rIns="91425" bIns="91425" anchor="b" anchorCtr="0">
            <a:noAutofit/>
          </a:bodyPr>
          <a:lstStyle/>
          <a:p>
            <a:pPr marL="0" indent="0"/>
            <a:r>
              <a:rPr lang="en-US" sz="1400" b="1" dirty="0"/>
              <a:t>What is the number of bed per 1K population in each province?</a:t>
            </a:r>
          </a:p>
        </p:txBody>
      </p:sp>
      <p:sp>
        <p:nvSpPr>
          <p:cNvPr id="360" name="Google Shape;360;p48"/>
          <p:cNvSpPr txBox="1">
            <a:spLocks noGrp="1"/>
          </p:cNvSpPr>
          <p:nvPr>
            <p:ph type="subTitle" idx="5"/>
          </p:nvPr>
        </p:nvSpPr>
        <p:spPr>
          <a:xfrm>
            <a:off x="4858028" y="2179100"/>
            <a:ext cx="3570771" cy="88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Indicates the healthcare system's capacity to accommodate patients in each province.</a:t>
            </a:r>
          </a:p>
        </p:txBody>
      </p:sp>
      <p:sp>
        <p:nvSpPr>
          <p:cNvPr id="361" name="Google Shape;361;p48"/>
          <p:cNvSpPr txBox="1">
            <a:spLocks noGrp="1"/>
          </p:cNvSpPr>
          <p:nvPr>
            <p:ph type="subTitle" idx="6"/>
          </p:nvPr>
        </p:nvSpPr>
        <p:spPr>
          <a:xfrm>
            <a:off x="4858028" y="3721400"/>
            <a:ext cx="3570771" cy="88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Shows the distribution of high-tier referral hospitals capable of providing specialized and complex medical services.</a:t>
            </a:r>
          </a:p>
        </p:txBody>
      </p:sp>
      <p:sp>
        <p:nvSpPr>
          <p:cNvPr id="362" name="Google Shape;362;p48"/>
          <p:cNvSpPr txBox="1">
            <a:spLocks noGrp="1"/>
          </p:cNvSpPr>
          <p:nvPr>
            <p:ph type="subTitle" idx="7"/>
          </p:nvPr>
        </p:nvSpPr>
        <p:spPr>
          <a:xfrm>
            <a:off x="4858027" y="1523900"/>
            <a:ext cx="3570771" cy="73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400" b="1" dirty="0"/>
              <a:t>How many beds are there in each province?</a:t>
            </a:r>
          </a:p>
        </p:txBody>
      </p:sp>
      <p:sp>
        <p:nvSpPr>
          <p:cNvPr id="363" name="Google Shape;363;p48"/>
          <p:cNvSpPr txBox="1">
            <a:spLocks noGrp="1"/>
          </p:cNvSpPr>
          <p:nvPr>
            <p:ph type="subTitle" idx="8"/>
          </p:nvPr>
        </p:nvSpPr>
        <p:spPr>
          <a:xfrm>
            <a:off x="4858029" y="3066200"/>
            <a:ext cx="3570771" cy="73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400" b="1" dirty="0"/>
              <a:t>How many class A and B hospitals are there in each province?</a:t>
            </a:r>
          </a:p>
        </p:txBody>
      </p:sp>
      <p:sp>
        <p:nvSpPr>
          <p:cNvPr id="4" name="Google Shape;266;p43">
            <a:extLst>
              <a:ext uri="{FF2B5EF4-FFF2-40B4-BE49-F238E27FC236}">
                <a16:creationId xmlns:a16="http://schemas.microsoft.com/office/drawing/2014/main" id="{AA29396E-9426-1776-9229-47C8C990ABE2}"/>
              </a:ext>
            </a:extLst>
          </p:cNvPr>
          <p:cNvSpPr txBox="1">
            <a:spLocks/>
          </p:cNvSpPr>
          <p:nvPr/>
        </p:nvSpPr>
        <p:spPr>
          <a:xfrm>
            <a:off x="791936" y="947821"/>
            <a:ext cx="5930100" cy="4560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Alexandria Medium"/>
              <a:buNone/>
              <a:defRPr sz="1800" b="0" i="0" u="none" strike="noStrike" cap="none">
                <a:solidFill>
                  <a:schemeClr val="dk1"/>
                </a:solidFill>
                <a:latin typeface="Alexandria Medium"/>
                <a:ea typeface="Alexandria Medium"/>
                <a:cs typeface="Alexandria Medium"/>
                <a:sym typeface="Alexandria Medium"/>
              </a:defRPr>
            </a:lvl1pPr>
            <a:lvl2pPr marL="914400" marR="0" lvl="1"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2pPr>
            <a:lvl3pPr marL="1371600" marR="0" lvl="2"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3pPr>
            <a:lvl4pPr marL="1828800" marR="0" lvl="3"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4pPr>
            <a:lvl5pPr marL="2286000" marR="0" lvl="4"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5pPr>
            <a:lvl6pPr marL="2743200" marR="0" lvl="5"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6pPr>
            <a:lvl7pPr marL="3200400" marR="0" lvl="6"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7pPr>
            <a:lvl8pPr marL="3657600" marR="0" lvl="7"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8pPr>
            <a:lvl9pPr marL="4114800" marR="0" lvl="8" indent="-304800" algn="l" rtl="0">
              <a:lnSpc>
                <a:spcPct val="100000"/>
              </a:lnSpc>
              <a:spcBef>
                <a:spcPts val="0"/>
              </a:spcBef>
              <a:spcAft>
                <a:spcPts val="0"/>
              </a:spcAft>
              <a:buClr>
                <a:schemeClr val="dk1"/>
              </a:buClr>
              <a:buSzPts val="2400"/>
              <a:buFont typeface="Alexandria Medium"/>
              <a:buNone/>
              <a:defRPr sz="2400" b="0" i="0" u="none" strike="noStrike" cap="none">
                <a:solidFill>
                  <a:schemeClr val="dk1"/>
                </a:solidFill>
                <a:latin typeface="Alexandria Medium"/>
                <a:ea typeface="Alexandria Medium"/>
                <a:cs typeface="Alexandria Medium"/>
                <a:sym typeface="Alexandria Medium"/>
              </a:defRPr>
            </a:lvl9pPr>
          </a:lstStyle>
          <a:p>
            <a:pPr marL="0" indent="0"/>
            <a:r>
              <a:rPr lang="en-US"/>
              <a:t>Prepare Key Indicator using Business Questions</a:t>
            </a:r>
            <a:endParaRPr lang="en-US" dirty="0"/>
          </a:p>
        </p:txBody>
      </p:sp>
      <p:sp>
        <p:nvSpPr>
          <p:cNvPr id="6" name="Google Shape;206;p37">
            <a:extLst>
              <a:ext uri="{FF2B5EF4-FFF2-40B4-BE49-F238E27FC236}">
                <a16:creationId xmlns:a16="http://schemas.microsoft.com/office/drawing/2014/main" id="{C32DDA58-E6AF-CB21-98B7-1E50336339F1}"/>
              </a:ext>
            </a:extLst>
          </p:cNvPr>
          <p:cNvSpPr txBox="1">
            <a:spLocks noGrp="1"/>
          </p:cNvSpPr>
          <p:nvPr>
            <p:ph type="title"/>
          </p:nvPr>
        </p:nvSpPr>
        <p:spPr>
          <a:xfrm>
            <a:off x="359571" y="901471"/>
            <a:ext cx="5385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kumimoji="0" lang="en" sz="1800" b="0" i="0" u="none" strike="noStrike" kern="0" cap="none" spc="0" normalizeH="0" baseline="0" noProof="0" dirty="0">
                <a:ln>
                  <a:noFill/>
                </a:ln>
                <a:solidFill>
                  <a:srgbClr val="5296B8"/>
                </a:solidFill>
                <a:effectLst/>
                <a:uLnTx/>
                <a:uFillTx/>
                <a:latin typeface="Alexandria Medium"/>
                <a:cs typeface="Alexandria Medium"/>
                <a:sym typeface="Alexandria Medium"/>
              </a:rPr>
              <a:t>02</a:t>
            </a:r>
            <a:endParaRPr dirty="0"/>
          </a:p>
        </p:txBody>
      </p:sp>
      <p:sp>
        <p:nvSpPr>
          <p:cNvPr id="2" name="Google Shape;236;p39">
            <a:extLst>
              <a:ext uri="{FF2B5EF4-FFF2-40B4-BE49-F238E27FC236}">
                <a16:creationId xmlns:a16="http://schemas.microsoft.com/office/drawing/2014/main" id="{28CEBAC3-4BEC-4DFE-1ED5-D1FC8974D3AA}"/>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Data </a:t>
            </a:r>
            <a:r>
              <a:rPr lang="en-US" b="1" dirty="0"/>
              <a:t>Preparation</a:t>
            </a:r>
            <a:endParaRPr lang="en-US" dirty="0"/>
          </a:p>
        </p:txBody>
      </p:sp>
      <p:pic>
        <p:nvPicPr>
          <p:cNvPr id="12" name="Picture 8" descr="Microsoft Excel Logo Icon (2024) - Free Download PNG, SVG, AI">
            <a:extLst>
              <a:ext uri="{FF2B5EF4-FFF2-40B4-BE49-F238E27FC236}">
                <a16:creationId xmlns:a16="http://schemas.microsoft.com/office/drawing/2014/main" id="{22D79574-47AF-3C6E-2093-1480E80A26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451" y="417632"/>
            <a:ext cx="287795" cy="268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9391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19" name="Google Shape;263;p43">
            <a:extLst>
              <a:ext uri="{FF2B5EF4-FFF2-40B4-BE49-F238E27FC236}">
                <a16:creationId xmlns:a16="http://schemas.microsoft.com/office/drawing/2014/main" id="{FE6E5ED8-414F-2A12-36E4-5FD9F8DF2794}"/>
              </a:ext>
            </a:extLst>
          </p:cNvPr>
          <p:cNvSpPr txBox="1">
            <a:spLocks/>
          </p:cNvSpPr>
          <p:nvPr/>
        </p:nvSpPr>
        <p:spPr>
          <a:xfrm>
            <a:off x="533984" y="923200"/>
            <a:ext cx="7894816" cy="75601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buClr>
                <a:srgbClr val="15110E"/>
              </a:buClr>
              <a:buSzPts val="1600"/>
              <a:defRPr/>
            </a:pPr>
            <a:r>
              <a:rPr lang="en-US" dirty="0">
                <a:solidFill>
                  <a:srgbClr val="15110E"/>
                </a:solidFill>
                <a:latin typeface="Albert Sans"/>
              </a:rPr>
              <a:t>The cleaned and aggregated dataset was imported into Power BI to create an interactive dashboard. The dashboard enables users to quickly identify regional disparities in hospital availability, healthcare capacity, and access to advanced healthcare services.</a:t>
            </a:r>
          </a:p>
        </p:txBody>
      </p:sp>
      <p:sp>
        <p:nvSpPr>
          <p:cNvPr id="2" name="Google Shape;236;p39">
            <a:extLst>
              <a:ext uri="{FF2B5EF4-FFF2-40B4-BE49-F238E27FC236}">
                <a16:creationId xmlns:a16="http://schemas.microsoft.com/office/drawing/2014/main" id="{FBF127BB-8DF1-0744-6BD3-0FAFD1654BAE}"/>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Data </a:t>
            </a:r>
            <a:r>
              <a:rPr lang="en-US" b="1" dirty="0"/>
              <a:t>Visualization</a:t>
            </a:r>
            <a:endParaRPr lang="en-US" dirty="0"/>
          </a:p>
        </p:txBody>
      </p:sp>
      <p:pic>
        <p:nvPicPr>
          <p:cNvPr id="3" name="Picture 28">
            <a:extLst>
              <a:ext uri="{FF2B5EF4-FFF2-40B4-BE49-F238E27FC236}">
                <a16:creationId xmlns:a16="http://schemas.microsoft.com/office/drawing/2014/main" id="{FC5F5DAE-03C1-DBAC-58DB-3E4C70430F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451" y="407794"/>
            <a:ext cx="287796" cy="28779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016FC5E-D152-3E07-299B-09DD628FB3E1}"/>
              </a:ext>
            </a:extLst>
          </p:cNvPr>
          <p:cNvPicPr>
            <a:picLocks noChangeAspect="1"/>
          </p:cNvPicPr>
          <p:nvPr/>
        </p:nvPicPr>
        <p:blipFill>
          <a:blip r:embed="rId4"/>
          <a:stretch>
            <a:fillRect/>
          </a:stretch>
        </p:blipFill>
        <p:spPr>
          <a:xfrm>
            <a:off x="1903316" y="1906820"/>
            <a:ext cx="5337367" cy="2997451"/>
          </a:xfrm>
          <a:prstGeom prst="rect">
            <a:avLst/>
          </a:prstGeom>
        </p:spPr>
      </p:pic>
    </p:spTree>
    <p:extLst>
      <p:ext uri="{BB962C8B-B14F-4D97-AF65-F5344CB8AC3E}">
        <p14:creationId xmlns:p14="http://schemas.microsoft.com/office/powerpoint/2010/main" val="934051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3" name="Google Shape;445;p56">
            <a:extLst>
              <a:ext uri="{FF2B5EF4-FFF2-40B4-BE49-F238E27FC236}">
                <a16:creationId xmlns:a16="http://schemas.microsoft.com/office/drawing/2014/main" id="{536D8043-1FB4-72A7-3064-49A9CB064AE4}"/>
              </a:ext>
            </a:extLst>
          </p:cNvPr>
          <p:cNvSpPr txBox="1">
            <a:spLocks noGrp="1"/>
          </p:cNvSpPr>
          <p:nvPr/>
        </p:nvSpPr>
        <p:spPr>
          <a:xfrm>
            <a:off x="452522" y="383733"/>
            <a:ext cx="3780600" cy="456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exandria Medium"/>
              <a:buNone/>
              <a:defRPr sz="1800" b="0" i="0" u="none" strike="noStrike" cap="none">
                <a:solidFill>
                  <a:schemeClr val="lt2"/>
                </a:solidFill>
                <a:latin typeface="Alexandria Medium"/>
                <a:ea typeface="Alexandria Medium"/>
                <a:cs typeface="Alexandria Medium"/>
                <a:sym typeface="Alexandria Medium"/>
              </a:defRPr>
            </a:lvl1pPr>
            <a:lvl2pPr marR="0" lvl="1"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2pPr>
            <a:lvl3pPr marR="0" lvl="2"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3pPr>
            <a:lvl4pPr marR="0" lvl="3"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4pPr>
            <a:lvl5pPr marR="0" lvl="4"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5pPr>
            <a:lvl6pPr marR="0" lvl="5"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6pPr>
            <a:lvl7pPr marR="0" lvl="6"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7pPr>
            <a:lvl8pPr marR="0" lvl="7"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8pPr>
            <a:lvl9pPr marR="0" lvl="8"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9pPr>
          </a:lstStyle>
          <a:p>
            <a:pPr marL="0" lvl="0" indent="0" algn="l" rtl="0">
              <a:spcBef>
                <a:spcPts val="0"/>
              </a:spcBef>
              <a:spcAft>
                <a:spcPts val="0"/>
              </a:spcAft>
              <a:buNone/>
            </a:pPr>
            <a:r>
              <a:rPr lang="en" dirty="0"/>
              <a:t>Hospital Distribution Analysis</a:t>
            </a:r>
            <a:endParaRPr dirty="0"/>
          </a:p>
        </p:txBody>
      </p:sp>
      <p:sp>
        <p:nvSpPr>
          <p:cNvPr id="4" name="Google Shape;446;p56">
            <a:extLst>
              <a:ext uri="{FF2B5EF4-FFF2-40B4-BE49-F238E27FC236}">
                <a16:creationId xmlns:a16="http://schemas.microsoft.com/office/drawing/2014/main" id="{0F15706D-D40F-7021-FD01-DF6AB619BFB5}"/>
              </a:ext>
            </a:extLst>
          </p:cNvPr>
          <p:cNvSpPr txBox="1">
            <a:spLocks noGrp="1"/>
          </p:cNvSpPr>
          <p:nvPr/>
        </p:nvSpPr>
        <p:spPr>
          <a:xfrm>
            <a:off x="452522" y="763533"/>
            <a:ext cx="5138280" cy="11122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1pPr>
            <a:lvl2pPr marL="914400" marR="0" lvl="1"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2pPr>
            <a:lvl3pPr marL="1371600" marR="0" lvl="2"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3pPr>
            <a:lvl4pPr marL="1828800" marR="0" lvl="3"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4pPr>
            <a:lvl5pPr marL="2286000" marR="0" lvl="4"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5pPr>
            <a:lvl6pPr marL="2743200" marR="0" lvl="5"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6pPr>
            <a:lvl7pPr marL="3200400" marR="0" lvl="6"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7pPr>
            <a:lvl8pPr marL="3657600" marR="0" lvl="7"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8pPr>
            <a:lvl9pPr marL="4114800" marR="0" lvl="8"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9pPr>
          </a:lstStyle>
          <a:p>
            <a:pPr marL="0" lvl="0" indent="0" algn="just" rtl="0">
              <a:spcBef>
                <a:spcPts val="0"/>
              </a:spcBef>
              <a:spcAft>
                <a:spcPts val="0"/>
              </a:spcAft>
              <a:buNone/>
            </a:pPr>
            <a:r>
              <a:rPr lang="en-US" dirty="0"/>
              <a:t>The World Health Organization (WHO) uses hospital beds per population as an international health system indicator to assess healthcare capacity. In this analysis, the metric is used to compare the availability of inpatient healthcare resources across Indonesian provinces and identify regional disparities.</a:t>
            </a:r>
          </a:p>
        </p:txBody>
      </p:sp>
      <p:sp>
        <p:nvSpPr>
          <p:cNvPr id="9" name="TextBox 8">
            <a:extLst>
              <a:ext uri="{FF2B5EF4-FFF2-40B4-BE49-F238E27FC236}">
                <a16:creationId xmlns:a16="http://schemas.microsoft.com/office/drawing/2014/main" id="{33153CF4-336B-1B5C-3356-77FE4D791274}"/>
              </a:ext>
            </a:extLst>
          </p:cNvPr>
          <p:cNvSpPr txBox="1"/>
          <p:nvPr/>
        </p:nvSpPr>
        <p:spPr>
          <a:xfrm>
            <a:off x="542330" y="4097352"/>
            <a:ext cx="7810377" cy="646331"/>
          </a:xfrm>
          <a:prstGeom prst="rect">
            <a:avLst/>
          </a:prstGeom>
          <a:noFill/>
        </p:spPr>
        <p:txBody>
          <a:bodyPr wrap="square">
            <a:spAutoFit/>
          </a:bodyPr>
          <a:lstStyle/>
          <a:p>
            <a:pPr marL="60960" marR="0" lvl="0" algn="just" defTabSz="914400" rtl="0" eaLnBrk="1" fontAlgn="auto" latinLnBrk="0" hangingPunct="1">
              <a:lnSpc>
                <a:spcPct val="100000"/>
              </a:lnSpc>
              <a:spcBef>
                <a:spcPts val="0"/>
              </a:spcBef>
              <a:spcAft>
                <a:spcPts val="0"/>
              </a:spcAft>
              <a:buClr>
                <a:srgbClr val="5296B8"/>
              </a:buClr>
              <a:buSzTx/>
              <a:tabLst/>
              <a:defRPr/>
            </a:pPr>
            <a:r>
              <a:rPr lang="en-US" sz="1200" b="1" dirty="0">
                <a:solidFill>
                  <a:schemeClr val="dk1"/>
                </a:solidFill>
                <a:latin typeface="Albert Sans"/>
              </a:rPr>
              <a:t>Indonesia beds per 1K population index ranging from 0.3 to 3.2</a:t>
            </a:r>
            <a:r>
              <a:rPr lang="en-US" sz="1200" dirty="0">
                <a:solidFill>
                  <a:schemeClr val="dk1"/>
                </a:solidFill>
                <a:latin typeface="Albert Sans"/>
              </a:rPr>
              <a:t>, with average of 1-2 in most of provinces. The top 5 highest beds per 1K population is </a:t>
            </a:r>
            <a:r>
              <a:rPr lang="en-US" sz="1200" b="1" dirty="0">
                <a:solidFill>
                  <a:schemeClr val="dk1"/>
                </a:solidFill>
                <a:latin typeface="Albert Sans"/>
              </a:rPr>
              <a:t>Papua</a:t>
            </a:r>
            <a:r>
              <a:rPr lang="en-US" sz="1200" dirty="0">
                <a:solidFill>
                  <a:schemeClr val="dk1"/>
                </a:solidFill>
                <a:latin typeface="Albert Sans"/>
              </a:rPr>
              <a:t>, </a:t>
            </a:r>
            <a:r>
              <a:rPr lang="en-US" sz="1200" b="1" dirty="0">
                <a:solidFill>
                  <a:schemeClr val="dk1"/>
                </a:solidFill>
                <a:latin typeface="Albert Sans"/>
              </a:rPr>
              <a:t>Sulawesi Utara</a:t>
            </a:r>
            <a:r>
              <a:rPr lang="en-US" sz="1200" dirty="0">
                <a:solidFill>
                  <a:schemeClr val="dk1"/>
                </a:solidFill>
                <a:latin typeface="Albert Sans"/>
              </a:rPr>
              <a:t>, </a:t>
            </a:r>
            <a:r>
              <a:rPr lang="en-US" sz="1200" b="1" dirty="0">
                <a:solidFill>
                  <a:schemeClr val="dk1"/>
                </a:solidFill>
                <a:latin typeface="Albert Sans"/>
              </a:rPr>
              <a:t>DKI Jakarta</a:t>
            </a:r>
            <a:r>
              <a:rPr lang="en-US" sz="1200" dirty="0">
                <a:solidFill>
                  <a:schemeClr val="dk1"/>
                </a:solidFill>
                <a:latin typeface="Albert Sans"/>
              </a:rPr>
              <a:t>, </a:t>
            </a:r>
            <a:r>
              <a:rPr lang="en-US" sz="1200" b="1" dirty="0">
                <a:solidFill>
                  <a:schemeClr val="dk1"/>
                </a:solidFill>
                <a:latin typeface="Albert Sans"/>
              </a:rPr>
              <a:t>Yogyakarta</a:t>
            </a:r>
            <a:r>
              <a:rPr lang="en-US" sz="1200" dirty="0">
                <a:solidFill>
                  <a:schemeClr val="dk1"/>
                </a:solidFill>
                <a:latin typeface="Albert Sans"/>
              </a:rPr>
              <a:t>, and </a:t>
            </a:r>
            <a:r>
              <a:rPr lang="en-US" sz="1200" b="1" dirty="0">
                <a:solidFill>
                  <a:schemeClr val="dk1"/>
                </a:solidFill>
                <a:latin typeface="Albert Sans"/>
              </a:rPr>
              <a:t>Kalimantan Utara</a:t>
            </a:r>
            <a:r>
              <a:rPr lang="en-US" sz="1200" dirty="0">
                <a:solidFill>
                  <a:schemeClr val="dk1"/>
                </a:solidFill>
                <a:latin typeface="Albert Sans"/>
              </a:rPr>
              <a:t>, with Papua is the only province within group of many developed countries had.</a:t>
            </a:r>
          </a:p>
        </p:txBody>
      </p:sp>
      <p:sp>
        <p:nvSpPr>
          <p:cNvPr id="10" name="Rectangle: Rounded Corners 9">
            <a:extLst>
              <a:ext uri="{FF2B5EF4-FFF2-40B4-BE49-F238E27FC236}">
                <a16:creationId xmlns:a16="http://schemas.microsoft.com/office/drawing/2014/main" id="{ADA9B526-3FD4-1769-C73D-A5C05F5A6443}"/>
              </a:ext>
            </a:extLst>
          </p:cNvPr>
          <p:cNvSpPr/>
          <p:nvPr/>
        </p:nvSpPr>
        <p:spPr>
          <a:xfrm>
            <a:off x="542330" y="3970669"/>
            <a:ext cx="7886470" cy="899699"/>
          </a:xfrm>
          <a:prstGeom prst="roundRect">
            <a:avLst>
              <a:gd name="adj" fmla="val 6807"/>
            </a:avLst>
          </a:prstGeom>
          <a:noFill/>
          <a:ln w="952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Google Shape;550;p63">
            <a:extLst>
              <a:ext uri="{FF2B5EF4-FFF2-40B4-BE49-F238E27FC236}">
                <a16:creationId xmlns:a16="http://schemas.microsoft.com/office/drawing/2014/main" id="{F044C432-E213-5E57-3E04-CB7FFCBB4718}"/>
              </a:ext>
            </a:extLst>
          </p:cNvPr>
          <p:cNvGraphicFramePr/>
          <p:nvPr>
            <p:extLst>
              <p:ext uri="{D42A27DB-BD31-4B8C-83A1-F6EECF244321}">
                <p14:modId xmlns:p14="http://schemas.microsoft.com/office/powerpoint/2010/main" val="2524878957"/>
              </p:ext>
            </p:extLst>
          </p:nvPr>
        </p:nvGraphicFramePr>
        <p:xfrm>
          <a:off x="5822764" y="1213383"/>
          <a:ext cx="2599500" cy="2494060"/>
        </p:xfrm>
        <a:graphic>
          <a:graphicData uri="http://schemas.openxmlformats.org/drawingml/2006/table">
            <a:tbl>
              <a:tblPr>
                <a:noFill/>
                <a:tableStyleId>{6794EE09-575A-4CCA-8B22-57579FD86842}</a:tableStyleId>
              </a:tblPr>
              <a:tblGrid>
                <a:gridCol w="497480">
                  <a:extLst>
                    <a:ext uri="{9D8B030D-6E8A-4147-A177-3AD203B41FA5}">
                      <a16:colId xmlns:a16="http://schemas.microsoft.com/office/drawing/2014/main" val="20000"/>
                    </a:ext>
                  </a:extLst>
                </a:gridCol>
                <a:gridCol w="2102020">
                  <a:extLst>
                    <a:ext uri="{9D8B030D-6E8A-4147-A177-3AD203B41FA5}">
                      <a16:colId xmlns:a16="http://schemas.microsoft.com/office/drawing/2014/main" val="20001"/>
                    </a:ext>
                  </a:extLst>
                </a:gridCol>
              </a:tblGrid>
              <a:tr h="767403">
                <a:tc>
                  <a:txBody>
                    <a:bodyPr/>
                    <a:lstStyle/>
                    <a:p>
                      <a:pPr marL="0" lvl="0" indent="0" algn="ctr" rtl="0">
                        <a:spcBef>
                          <a:spcPts val="0"/>
                        </a:spcBef>
                        <a:spcAft>
                          <a:spcPts val="0"/>
                        </a:spcAft>
                        <a:buNone/>
                      </a:pPr>
                      <a:r>
                        <a:rPr lang="en-US" sz="1200" dirty="0">
                          <a:solidFill>
                            <a:schemeClr val="dk1"/>
                          </a:solidFill>
                          <a:latin typeface="Alexandria Medium"/>
                          <a:ea typeface="Alexandria Medium"/>
                          <a:cs typeface="Alexandria Medium"/>
                          <a:sym typeface="Alexandria Medium"/>
                        </a:rPr>
                        <a:t>&lt;1</a:t>
                      </a:r>
                      <a:endParaRPr sz="1200" dirty="0">
                        <a:solidFill>
                          <a:schemeClr val="dk1"/>
                        </a:solidFill>
                        <a:latin typeface="Alexandria Medium"/>
                        <a:ea typeface="Alexandria Medium"/>
                        <a:cs typeface="Alexandria Medium"/>
                        <a:sym typeface="Alexandria Medium"/>
                      </a:endParaRPr>
                    </a:p>
                  </a:txBody>
                  <a:tcPr marL="91425" marR="91425" marT="0" marB="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180000" lvl="0" indent="0" algn="l" rtl="0">
                        <a:spcBef>
                          <a:spcPts val="0"/>
                        </a:spcBef>
                        <a:spcAft>
                          <a:spcPts val="0"/>
                        </a:spcAft>
                        <a:buNone/>
                      </a:pPr>
                      <a:r>
                        <a:rPr lang="en-US" sz="1000" dirty="0">
                          <a:solidFill>
                            <a:schemeClr val="dk1"/>
                          </a:solidFill>
                          <a:latin typeface="Albert Sans"/>
                          <a:ea typeface="Albert Sans"/>
                          <a:cs typeface="Albert Sans"/>
                          <a:sym typeface="Albert Sans"/>
                        </a:rPr>
                        <a:t>Low bed availability; limited inpatient capacity. Common in many lower-resource health systems.</a:t>
                      </a:r>
                      <a:endParaRPr sz="1000" dirty="0">
                        <a:solidFill>
                          <a:schemeClr val="dk1"/>
                        </a:solidFill>
                        <a:latin typeface="Albert Sans"/>
                        <a:ea typeface="Albert Sans"/>
                        <a:cs typeface="Albert Sans"/>
                        <a:sym typeface="Albert Sans"/>
                      </a:endParaRPr>
                    </a:p>
                  </a:txBody>
                  <a:tcPr marL="0" marR="0" marT="0" marB="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67403">
                <a:tc>
                  <a:txBody>
                    <a:bodyPr/>
                    <a:lstStyle/>
                    <a:p>
                      <a:pPr marL="0" lvl="0" indent="0" algn="ctr" rtl="0">
                        <a:spcBef>
                          <a:spcPts val="0"/>
                        </a:spcBef>
                        <a:spcAft>
                          <a:spcPts val="0"/>
                        </a:spcAft>
                        <a:buNone/>
                      </a:pPr>
                      <a:r>
                        <a:rPr lang="en-US" sz="1200" dirty="0">
                          <a:solidFill>
                            <a:schemeClr val="dk1"/>
                          </a:solidFill>
                          <a:latin typeface="Alexandria Medium"/>
                          <a:ea typeface="Alexandria Medium"/>
                          <a:cs typeface="Alexandria Medium"/>
                          <a:sym typeface="Alexandria Medium"/>
                        </a:rPr>
                        <a:t>1-3</a:t>
                      </a: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180000" lvl="0" indent="0" algn="l" rtl="0">
                        <a:spcBef>
                          <a:spcPts val="0"/>
                        </a:spcBef>
                        <a:spcAft>
                          <a:spcPts val="0"/>
                        </a:spcAft>
                        <a:buNone/>
                      </a:pPr>
                      <a:r>
                        <a:rPr lang="en-US" sz="1000" dirty="0">
                          <a:solidFill>
                            <a:schemeClr val="dk1"/>
                          </a:solidFill>
                          <a:latin typeface="Albert Sans"/>
                          <a:ea typeface="Albert Sans"/>
                          <a:cs typeface="Albert Sans"/>
                          <a:sym typeface="Albert Sans"/>
                        </a:rPr>
                        <a:t>Moderate bed availability. Many developing and middle-income countries fall within this range.</a:t>
                      </a:r>
                      <a:endParaRPr sz="1000" dirty="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83702">
                <a:tc>
                  <a:txBody>
                    <a:bodyPr/>
                    <a:lstStyle/>
                    <a:p>
                      <a:pPr marL="0" lvl="0" indent="0" algn="ctr" rtl="0">
                        <a:spcBef>
                          <a:spcPts val="0"/>
                        </a:spcBef>
                        <a:spcAft>
                          <a:spcPts val="0"/>
                        </a:spcAft>
                        <a:buNone/>
                      </a:pPr>
                      <a:r>
                        <a:rPr lang="en-US" sz="1200" dirty="0">
                          <a:solidFill>
                            <a:schemeClr val="dk1"/>
                          </a:solidFill>
                          <a:latin typeface="Alexandria Medium"/>
                          <a:ea typeface="Alexandria Medium"/>
                          <a:cs typeface="Alexandria Medium"/>
                          <a:sym typeface="Alexandria Medium"/>
                        </a:rPr>
                        <a:t>3-8</a:t>
                      </a:r>
                      <a:endParaRPr sz="1200" dirty="0">
                        <a:solidFill>
                          <a:schemeClr val="dk1"/>
                        </a:solidFill>
                        <a:latin typeface="Alexandria Medium"/>
                        <a:ea typeface="Alexandria Medium"/>
                        <a:cs typeface="Alexandria Medium"/>
                        <a:sym typeface="Alexandria Medium"/>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180000" lvl="0" indent="0" algn="l" rtl="0">
                        <a:spcBef>
                          <a:spcPts val="0"/>
                        </a:spcBef>
                        <a:spcAft>
                          <a:spcPts val="0"/>
                        </a:spcAft>
                        <a:buNone/>
                      </a:pPr>
                      <a:r>
                        <a:rPr lang="en-US" sz="1000" dirty="0">
                          <a:solidFill>
                            <a:schemeClr val="dk1"/>
                          </a:solidFill>
                          <a:latin typeface="Albert Sans"/>
                          <a:ea typeface="Albert Sans"/>
                          <a:cs typeface="Albert Sans"/>
                          <a:sym typeface="Albert Sans"/>
                        </a:rPr>
                        <a:t>Typical range for many developed countries.</a:t>
                      </a:r>
                      <a:endParaRPr sz="1000" dirty="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75552">
                <a:tc>
                  <a:txBody>
                    <a:bodyPr/>
                    <a:lstStyle/>
                    <a:p>
                      <a:pPr marL="0" lvl="0" indent="0" algn="ctr" rtl="0">
                        <a:spcBef>
                          <a:spcPts val="0"/>
                        </a:spcBef>
                        <a:spcAft>
                          <a:spcPts val="0"/>
                        </a:spcAft>
                        <a:buNone/>
                      </a:pPr>
                      <a:r>
                        <a:rPr lang="en-US" sz="1200" dirty="0">
                          <a:solidFill>
                            <a:schemeClr val="dk1"/>
                          </a:solidFill>
                          <a:latin typeface="Alexandria Medium"/>
                          <a:ea typeface="Alexandria Medium"/>
                          <a:cs typeface="Alexandria Medium"/>
                          <a:sym typeface="Alexandria Medium"/>
                        </a:rPr>
                        <a:t>&gt;10</a:t>
                      </a:r>
                      <a:endParaRPr sz="1200" dirty="0">
                        <a:solidFill>
                          <a:schemeClr val="dk1"/>
                        </a:solidFill>
                        <a:latin typeface="Alexandria Medium"/>
                        <a:ea typeface="Alexandria Medium"/>
                        <a:cs typeface="Alexandria Medium"/>
                        <a:sym typeface="Alexandria Medium"/>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180000" lvl="0" indent="0" algn="l" rtl="0">
                        <a:spcBef>
                          <a:spcPts val="0"/>
                        </a:spcBef>
                        <a:spcAft>
                          <a:spcPts val="0"/>
                        </a:spcAft>
                        <a:buNone/>
                      </a:pPr>
                      <a:r>
                        <a:rPr lang="en-US" sz="1000" dirty="0">
                          <a:solidFill>
                            <a:schemeClr val="dk1"/>
                          </a:solidFill>
                          <a:latin typeface="Albert Sans"/>
                          <a:ea typeface="Albert Sans"/>
                          <a:cs typeface="Albert Sans"/>
                          <a:sym typeface="Albert Sans"/>
                        </a:rPr>
                        <a:t>Very high bed availability, seen in countries such as Japan and South Korea.</a:t>
                      </a:r>
                      <a:endParaRPr sz="1000" dirty="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pic>
        <p:nvPicPr>
          <p:cNvPr id="15" name="Picture 14">
            <a:extLst>
              <a:ext uri="{FF2B5EF4-FFF2-40B4-BE49-F238E27FC236}">
                <a16:creationId xmlns:a16="http://schemas.microsoft.com/office/drawing/2014/main" id="{3C2FB63B-B4E4-8E6F-E2B7-5FA522427745}"/>
              </a:ext>
            </a:extLst>
          </p:cNvPr>
          <p:cNvPicPr>
            <a:picLocks noChangeAspect="1"/>
          </p:cNvPicPr>
          <p:nvPr/>
        </p:nvPicPr>
        <p:blipFill>
          <a:blip r:embed="rId3"/>
          <a:stretch>
            <a:fillRect/>
          </a:stretch>
        </p:blipFill>
        <p:spPr>
          <a:xfrm>
            <a:off x="497426" y="2104352"/>
            <a:ext cx="5048472" cy="1568400"/>
          </a:xfrm>
          <a:prstGeom prst="rect">
            <a:avLst/>
          </a:prstGeom>
        </p:spPr>
      </p:pic>
      <p:sp>
        <p:nvSpPr>
          <p:cNvPr id="16" name="Google Shape;236;p39">
            <a:extLst>
              <a:ext uri="{FF2B5EF4-FFF2-40B4-BE49-F238E27FC236}">
                <a16:creationId xmlns:a16="http://schemas.microsoft.com/office/drawing/2014/main" id="{8C6C1639-FF6B-DC9F-6E42-9D5A4E006C1E}"/>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Data </a:t>
            </a:r>
            <a:r>
              <a:rPr lang="en-US" b="1" dirty="0"/>
              <a:t>Evaluation</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3" name="Google Shape;445;p56">
            <a:extLst>
              <a:ext uri="{FF2B5EF4-FFF2-40B4-BE49-F238E27FC236}">
                <a16:creationId xmlns:a16="http://schemas.microsoft.com/office/drawing/2014/main" id="{536D8043-1FB4-72A7-3064-49A9CB064AE4}"/>
              </a:ext>
            </a:extLst>
          </p:cNvPr>
          <p:cNvSpPr txBox="1">
            <a:spLocks noGrp="1"/>
          </p:cNvSpPr>
          <p:nvPr/>
        </p:nvSpPr>
        <p:spPr>
          <a:xfrm>
            <a:off x="452522" y="383733"/>
            <a:ext cx="3780600" cy="456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exandria Medium"/>
              <a:buNone/>
              <a:defRPr sz="1800" b="0" i="0" u="none" strike="noStrike" cap="none">
                <a:solidFill>
                  <a:schemeClr val="lt2"/>
                </a:solidFill>
                <a:latin typeface="Alexandria Medium"/>
                <a:ea typeface="Alexandria Medium"/>
                <a:cs typeface="Alexandria Medium"/>
                <a:sym typeface="Alexandria Medium"/>
              </a:defRPr>
            </a:lvl1pPr>
            <a:lvl2pPr marR="0" lvl="1"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2pPr>
            <a:lvl3pPr marR="0" lvl="2"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3pPr>
            <a:lvl4pPr marR="0" lvl="3"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4pPr>
            <a:lvl5pPr marR="0" lvl="4"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5pPr>
            <a:lvl6pPr marR="0" lvl="5"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6pPr>
            <a:lvl7pPr marR="0" lvl="6"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7pPr>
            <a:lvl8pPr marR="0" lvl="7"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8pPr>
            <a:lvl9pPr marR="0" lvl="8"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9pPr>
          </a:lstStyle>
          <a:p>
            <a:pPr marL="0" lvl="0" indent="0" algn="l" rtl="0">
              <a:spcBef>
                <a:spcPts val="0"/>
              </a:spcBef>
              <a:spcAft>
                <a:spcPts val="0"/>
              </a:spcAft>
              <a:buNone/>
            </a:pPr>
            <a:r>
              <a:rPr lang="en" dirty="0"/>
              <a:t>Hospital Distribution Analysis</a:t>
            </a:r>
            <a:endParaRPr dirty="0"/>
          </a:p>
        </p:txBody>
      </p:sp>
      <p:sp>
        <p:nvSpPr>
          <p:cNvPr id="9" name="TextBox 8">
            <a:extLst>
              <a:ext uri="{FF2B5EF4-FFF2-40B4-BE49-F238E27FC236}">
                <a16:creationId xmlns:a16="http://schemas.microsoft.com/office/drawing/2014/main" id="{33153CF4-336B-1B5C-3356-77FE4D791274}"/>
              </a:ext>
            </a:extLst>
          </p:cNvPr>
          <p:cNvSpPr txBox="1"/>
          <p:nvPr/>
        </p:nvSpPr>
        <p:spPr>
          <a:xfrm>
            <a:off x="658052" y="3540645"/>
            <a:ext cx="7637507" cy="646331"/>
          </a:xfrm>
          <a:prstGeom prst="rect">
            <a:avLst/>
          </a:prstGeom>
          <a:noFill/>
        </p:spPr>
        <p:txBody>
          <a:bodyPr wrap="square">
            <a:spAutoFit/>
          </a:bodyPr>
          <a:lstStyle/>
          <a:p>
            <a:pPr marL="60960" marR="0" lvl="0" algn="just" defTabSz="914400" rtl="0" eaLnBrk="1" fontAlgn="auto" latinLnBrk="0" hangingPunct="1">
              <a:lnSpc>
                <a:spcPct val="100000"/>
              </a:lnSpc>
              <a:spcBef>
                <a:spcPts val="0"/>
              </a:spcBef>
              <a:spcAft>
                <a:spcPts val="0"/>
              </a:spcAft>
              <a:buClr>
                <a:srgbClr val="5296B8"/>
              </a:buClr>
              <a:buSzTx/>
              <a:tabLst/>
              <a:defRPr/>
            </a:pPr>
            <a:r>
              <a:rPr lang="en-US" sz="1200" dirty="0">
                <a:solidFill>
                  <a:schemeClr val="dk1"/>
                </a:solidFill>
                <a:latin typeface="Albert Sans"/>
              </a:rPr>
              <a:t>Even though most of the province across Indonesia has above WHO recommendation of beds per 1K beds index, there are </a:t>
            </a:r>
            <a:r>
              <a:rPr lang="en-US" sz="1200" b="1" dirty="0">
                <a:solidFill>
                  <a:schemeClr val="dk1"/>
                </a:solidFill>
                <a:latin typeface="Albert Sans"/>
              </a:rPr>
              <a:t>4 province that is still considered low in beds</a:t>
            </a:r>
            <a:r>
              <a:rPr lang="en-US" sz="1200" dirty="0">
                <a:solidFill>
                  <a:schemeClr val="dk1"/>
                </a:solidFill>
                <a:latin typeface="Albert Sans"/>
              </a:rPr>
              <a:t>, that is </a:t>
            </a:r>
            <a:r>
              <a:rPr lang="en-US" sz="1200" b="1" dirty="0">
                <a:solidFill>
                  <a:schemeClr val="dk1"/>
                </a:solidFill>
                <a:latin typeface="Albert Sans"/>
              </a:rPr>
              <a:t>Lampung</a:t>
            </a:r>
            <a:r>
              <a:rPr lang="en-US" sz="1200" dirty="0">
                <a:solidFill>
                  <a:schemeClr val="dk1"/>
                </a:solidFill>
                <a:latin typeface="Albert Sans"/>
              </a:rPr>
              <a:t>, </a:t>
            </a:r>
            <a:r>
              <a:rPr lang="en-US" sz="1200" b="1" dirty="0">
                <a:solidFill>
                  <a:schemeClr val="dk1"/>
                </a:solidFill>
                <a:latin typeface="Albert Sans"/>
              </a:rPr>
              <a:t>Nusa Tenggara Barat</a:t>
            </a:r>
            <a:r>
              <a:rPr lang="en-US" sz="1200" dirty="0">
                <a:solidFill>
                  <a:schemeClr val="dk1"/>
                </a:solidFill>
                <a:latin typeface="Albert Sans"/>
              </a:rPr>
              <a:t>, </a:t>
            </a:r>
            <a:r>
              <a:rPr lang="en-US" sz="1200" b="1" dirty="0">
                <a:solidFill>
                  <a:schemeClr val="dk1"/>
                </a:solidFill>
                <a:latin typeface="Albert Sans"/>
              </a:rPr>
              <a:t>Papua Tengah </a:t>
            </a:r>
            <a:r>
              <a:rPr lang="en-US" sz="1200" dirty="0">
                <a:solidFill>
                  <a:schemeClr val="dk1"/>
                </a:solidFill>
                <a:latin typeface="Albert Sans"/>
              </a:rPr>
              <a:t>and </a:t>
            </a:r>
            <a:r>
              <a:rPr lang="en-US" sz="1200" b="1" dirty="0">
                <a:solidFill>
                  <a:schemeClr val="dk1"/>
                </a:solidFill>
                <a:latin typeface="Albert Sans"/>
              </a:rPr>
              <a:t>Papua </a:t>
            </a:r>
            <a:r>
              <a:rPr lang="en-US" sz="1200" b="1" dirty="0" err="1">
                <a:solidFill>
                  <a:schemeClr val="dk1"/>
                </a:solidFill>
                <a:latin typeface="Albert Sans"/>
              </a:rPr>
              <a:t>Pegunungan</a:t>
            </a:r>
            <a:r>
              <a:rPr lang="en-US" sz="1200" dirty="0">
                <a:solidFill>
                  <a:schemeClr val="dk1"/>
                </a:solidFill>
                <a:latin typeface="Albert Sans"/>
              </a:rPr>
              <a:t>. </a:t>
            </a:r>
          </a:p>
        </p:txBody>
      </p:sp>
      <p:sp>
        <p:nvSpPr>
          <p:cNvPr id="10" name="Rectangle: Rounded Corners 9">
            <a:extLst>
              <a:ext uri="{FF2B5EF4-FFF2-40B4-BE49-F238E27FC236}">
                <a16:creationId xmlns:a16="http://schemas.microsoft.com/office/drawing/2014/main" id="{ADA9B526-3FD4-1769-C73D-A5C05F5A6443}"/>
              </a:ext>
            </a:extLst>
          </p:cNvPr>
          <p:cNvSpPr/>
          <p:nvPr/>
        </p:nvSpPr>
        <p:spPr>
          <a:xfrm>
            <a:off x="542330" y="3413962"/>
            <a:ext cx="7886470" cy="899699"/>
          </a:xfrm>
          <a:prstGeom prst="roundRect">
            <a:avLst>
              <a:gd name="adj" fmla="val 6807"/>
            </a:avLst>
          </a:prstGeom>
          <a:noFill/>
          <a:ln w="952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4671A810-31B2-9526-F68D-E408A69D98A0}"/>
              </a:ext>
            </a:extLst>
          </p:cNvPr>
          <p:cNvPicPr>
            <a:picLocks noChangeAspect="1"/>
          </p:cNvPicPr>
          <p:nvPr/>
        </p:nvPicPr>
        <p:blipFill>
          <a:blip r:embed="rId3"/>
          <a:stretch>
            <a:fillRect/>
          </a:stretch>
        </p:blipFill>
        <p:spPr>
          <a:xfrm>
            <a:off x="542330" y="1144450"/>
            <a:ext cx="2818152" cy="1878764"/>
          </a:xfrm>
          <a:prstGeom prst="rect">
            <a:avLst/>
          </a:prstGeom>
        </p:spPr>
      </p:pic>
      <p:graphicFrame>
        <p:nvGraphicFramePr>
          <p:cNvPr id="15" name="Google Shape;550;p63">
            <a:extLst>
              <a:ext uri="{FF2B5EF4-FFF2-40B4-BE49-F238E27FC236}">
                <a16:creationId xmlns:a16="http://schemas.microsoft.com/office/drawing/2014/main" id="{905AD454-B459-E00C-F063-7F2325270211}"/>
              </a:ext>
            </a:extLst>
          </p:cNvPr>
          <p:cNvGraphicFramePr/>
          <p:nvPr>
            <p:extLst>
              <p:ext uri="{D42A27DB-BD31-4B8C-83A1-F6EECF244321}">
                <p14:modId xmlns:p14="http://schemas.microsoft.com/office/powerpoint/2010/main" val="79619036"/>
              </p:ext>
            </p:extLst>
          </p:nvPr>
        </p:nvGraphicFramePr>
        <p:xfrm>
          <a:off x="3910693" y="1230482"/>
          <a:ext cx="4518107" cy="1792731"/>
        </p:xfrm>
        <a:graphic>
          <a:graphicData uri="http://schemas.openxmlformats.org/drawingml/2006/table">
            <a:tbl>
              <a:tblPr>
                <a:noFill/>
                <a:tableStyleId>{6794EE09-575A-4CCA-8B22-57579FD86842}</a:tableStyleId>
              </a:tblPr>
              <a:tblGrid>
                <a:gridCol w="1912190">
                  <a:extLst>
                    <a:ext uri="{9D8B030D-6E8A-4147-A177-3AD203B41FA5}">
                      <a16:colId xmlns:a16="http://schemas.microsoft.com/office/drawing/2014/main" val="20000"/>
                    </a:ext>
                  </a:extLst>
                </a:gridCol>
                <a:gridCol w="1265392">
                  <a:extLst>
                    <a:ext uri="{9D8B030D-6E8A-4147-A177-3AD203B41FA5}">
                      <a16:colId xmlns:a16="http://schemas.microsoft.com/office/drawing/2014/main" val="20001"/>
                    </a:ext>
                  </a:extLst>
                </a:gridCol>
                <a:gridCol w="1340525">
                  <a:extLst>
                    <a:ext uri="{9D8B030D-6E8A-4147-A177-3AD203B41FA5}">
                      <a16:colId xmlns:a16="http://schemas.microsoft.com/office/drawing/2014/main" val="20002"/>
                    </a:ext>
                  </a:extLst>
                </a:gridCol>
              </a:tblGrid>
              <a:tr h="464719">
                <a:tc>
                  <a:txBody>
                    <a:bodyPr/>
                    <a:lstStyle/>
                    <a:p>
                      <a:pPr marL="0" lvl="0" indent="0" algn="l" rtl="0">
                        <a:spcBef>
                          <a:spcPts val="0"/>
                        </a:spcBef>
                        <a:spcAft>
                          <a:spcPts val="0"/>
                        </a:spcAft>
                        <a:buNone/>
                      </a:pPr>
                      <a:r>
                        <a:rPr lang="en-US" sz="1200" dirty="0">
                          <a:solidFill>
                            <a:schemeClr val="lt1"/>
                          </a:solidFill>
                          <a:latin typeface="Alexandria Medium"/>
                          <a:ea typeface="Alexandria Medium"/>
                          <a:cs typeface="Alexandria Medium"/>
                          <a:sym typeface="Alexandria Medium"/>
                        </a:rPr>
                        <a:t>Province</a:t>
                      </a:r>
                      <a:endParaRPr sz="1200" dirty="0">
                        <a:solidFill>
                          <a:schemeClr val="lt1"/>
                        </a:solidFill>
                        <a:latin typeface="Alexandria Medium"/>
                        <a:ea typeface="Alexandria Medium"/>
                        <a:cs typeface="Alexandria Medium"/>
                        <a:sym typeface="Alexandria Medium"/>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dirty="0">
                          <a:solidFill>
                            <a:schemeClr val="lt1"/>
                          </a:solidFill>
                          <a:latin typeface="Alexandria Medium"/>
                          <a:ea typeface="Alexandria Medium"/>
                          <a:cs typeface="Alexandria Medium"/>
                          <a:sym typeface="Alexandria Medium"/>
                        </a:rPr>
                        <a:t>Population</a:t>
                      </a:r>
                      <a:endParaRPr sz="1200" dirty="0">
                        <a:solidFill>
                          <a:schemeClr val="lt1"/>
                        </a:solidFill>
                        <a:latin typeface="Alexandria Medium"/>
                        <a:ea typeface="Alexandria Medium"/>
                        <a:cs typeface="Alexandria Medium"/>
                        <a:sym typeface="Alexandria Medium"/>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dirty="0">
                          <a:solidFill>
                            <a:schemeClr val="lt1"/>
                          </a:solidFill>
                          <a:latin typeface="Alexandria Medium"/>
                          <a:ea typeface="Alexandria Medium"/>
                          <a:cs typeface="Alexandria Medium"/>
                          <a:sym typeface="Alexandria Medium"/>
                        </a:rPr>
                        <a:t>Total Beds</a:t>
                      </a:r>
                      <a:endParaRPr sz="1200" dirty="0">
                        <a:solidFill>
                          <a:schemeClr val="lt1"/>
                        </a:solidFill>
                        <a:latin typeface="Alexandria Medium"/>
                        <a:ea typeface="Alexandria Medium"/>
                        <a:cs typeface="Alexandria Medium"/>
                        <a:sym typeface="Alexandria Medium"/>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332003">
                <a:tc>
                  <a:txBody>
                    <a:bodyPr/>
                    <a:lstStyle/>
                    <a:p>
                      <a:pPr marL="0" lvl="0" indent="0" algn="l" rtl="0">
                        <a:spcBef>
                          <a:spcPts val="0"/>
                        </a:spcBef>
                        <a:spcAft>
                          <a:spcPts val="0"/>
                        </a:spcAft>
                        <a:buNone/>
                      </a:pPr>
                      <a:r>
                        <a:rPr lang="en" sz="1200" dirty="0">
                          <a:solidFill>
                            <a:schemeClr val="dk1"/>
                          </a:solidFill>
                          <a:latin typeface="Alexandria Medium"/>
                          <a:ea typeface="Alexandria Medium"/>
                          <a:cs typeface="Alexandria Medium"/>
                          <a:sym typeface="Alexandria Medium"/>
                        </a:rPr>
                        <a:t>Lampung</a:t>
                      </a: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dirty="0">
                          <a:solidFill>
                            <a:schemeClr val="dk1"/>
                          </a:solidFill>
                          <a:latin typeface="Albert Sans"/>
                          <a:ea typeface="Albert Sans"/>
                          <a:cs typeface="Albert Sans"/>
                          <a:sym typeface="Albert Sans"/>
                        </a:rPr>
                        <a:t>9.623.800</a:t>
                      </a:r>
                      <a:endParaRPr sz="1200" dirty="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dirty="0">
                          <a:solidFill>
                            <a:schemeClr val="dk1"/>
                          </a:solidFill>
                          <a:latin typeface="Albert Sans"/>
                          <a:ea typeface="Albert Sans"/>
                          <a:cs typeface="Albert Sans"/>
                          <a:sym typeface="Albert Sans"/>
                        </a:rPr>
                        <a:t>9.116</a:t>
                      </a:r>
                      <a:endParaRPr sz="1200" dirty="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32003">
                <a:tc>
                  <a:txBody>
                    <a:bodyPr/>
                    <a:lstStyle/>
                    <a:p>
                      <a:pPr marL="0" lvl="0" indent="0" algn="l" rtl="0">
                        <a:spcBef>
                          <a:spcPts val="0"/>
                        </a:spcBef>
                        <a:spcAft>
                          <a:spcPts val="0"/>
                        </a:spcAft>
                        <a:buNone/>
                      </a:pPr>
                      <a:r>
                        <a:rPr lang="en" sz="1200" dirty="0">
                          <a:solidFill>
                            <a:schemeClr val="dk1"/>
                          </a:solidFill>
                          <a:latin typeface="Alexandria Medium"/>
                          <a:ea typeface="Alexandria Medium"/>
                          <a:cs typeface="Alexandria Medium"/>
                          <a:sym typeface="Alexandria Medium"/>
                        </a:rPr>
                        <a:t>NTB</a:t>
                      </a: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US" sz="1200" dirty="0">
                          <a:solidFill>
                            <a:schemeClr val="dk1"/>
                          </a:solidFill>
                          <a:latin typeface="Albert Sans"/>
                          <a:ea typeface="Albert Sans"/>
                          <a:cs typeface="Albert Sans"/>
                          <a:sym typeface="Albert Sans"/>
                        </a:rPr>
                        <a:t>5.815.300</a:t>
                      </a:r>
                      <a:endParaRPr sz="1200" dirty="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dirty="0">
                          <a:solidFill>
                            <a:schemeClr val="dk1"/>
                          </a:solidFill>
                          <a:latin typeface="Albert Sans"/>
                          <a:ea typeface="Albert Sans"/>
                          <a:cs typeface="Albert Sans"/>
                          <a:sym typeface="Albert Sans"/>
                        </a:rPr>
                        <a:t>5.482</a:t>
                      </a:r>
                      <a:endParaRPr sz="1200" dirty="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32003">
                <a:tc>
                  <a:txBody>
                    <a:bodyPr/>
                    <a:lstStyle/>
                    <a:p>
                      <a:pPr marL="0" lvl="0" indent="0" algn="l" rtl="0">
                        <a:spcBef>
                          <a:spcPts val="0"/>
                        </a:spcBef>
                        <a:spcAft>
                          <a:spcPts val="0"/>
                        </a:spcAft>
                        <a:buNone/>
                      </a:pPr>
                      <a:r>
                        <a:rPr lang="en" sz="1200" dirty="0">
                          <a:solidFill>
                            <a:schemeClr val="dk1"/>
                          </a:solidFill>
                          <a:latin typeface="Alexandria Medium"/>
                          <a:ea typeface="Alexandria Medium"/>
                          <a:cs typeface="Alexandria Medium"/>
                          <a:sym typeface="Alexandria Medium"/>
                        </a:rPr>
                        <a:t>Papua Tengah</a:t>
                      </a:r>
                      <a:endParaRPr sz="1200" dirty="0">
                        <a:solidFill>
                          <a:schemeClr val="dk1"/>
                        </a:solidFill>
                        <a:latin typeface="Alexandria Medium"/>
                        <a:ea typeface="Alexandria Medium"/>
                        <a:cs typeface="Alexandria Medium"/>
                        <a:sym typeface="Alexandria Medium"/>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dirty="0">
                          <a:solidFill>
                            <a:schemeClr val="dk1"/>
                          </a:solidFill>
                          <a:latin typeface="Albert Sans"/>
                          <a:ea typeface="Albert Sans"/>
                          <a:cs typeface="Albert Sans"/>
                          <a:sym typeface="Albert Sans"/>
                        </a:rPr>
                        <a:t>1.510.800</a:t>
                      </a:r>
                      <a:endParaRPr sz="1200" dirty="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dirty="0">
                          <a:solidFill>
                            <a:schemeClr val="dk1"/>
                          </a:solidFill>
                          <a:latin typeface="Albert Sans"/>
                          <a:ea typeface="Albert Sans"/>
                          <a:cs typeface="Albert Sans"/>
                          <a:sym typeface="Albert Sans"/>
                        </a:rPr>
                        <a:t>1.042</a:t>
                      </a:r>
                      <a:endParaRPr sz="1200" dirty="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32003">
                <a:tc>
                  <a:txBody>
                    <a:bodyPr/>
                    <a:lstStyle/>
                    <a:p>
                      <a:pPr marL="0" lvl="0" indent="0" algn="l" rtl="0">
                        <a:spcBef>
                          <a:spcPts val="0"/>
                        </a:spcBef>
                        <a:spcAft>
                          <a:spcPts val="0"/>
                        </a:spcAft>
                        <a:buNone/>
                      </a:pPr>
                      <a:r>
                        <a:rPr lang="en" sz="1200" dirty="0">
                          <a:solidFill>
                            <a:schemeClr val="dk1"/>
                          </a:solidFill>
                          <a:latin typeface="Alexandria Medium"/>
                          <a:ea typeface="Alexandria Medium"/>
                          <a:cs typeface="Alexandria Medium"/>
                          <a:sym typeface="Alexandria Medium"/>
                        </a:rPr>
                        <a:t>Papua Pegunungan</a:t>
                      </a:r>
                      <a:endParaRPr sz="1200" dirty="0">
                        <a:solidFill>
                          <a:schemeClr val="dk1"/>
                        </a:solidFill>
                        <a:latin typeface="Alexandria Medium"/>
                        <a:ea typeface="Alexandria Medium"/>
                        <a:cs typeface="Alexandria Medium"/>
                        <a:sym typeface="Alexandria Medium"/>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dirty="0">
                          <a:solidFill>
                            <a:schemeClr val="dk1"/>
                          </a:solidFill>
                          <a:latin typeface="Albert Sans"/>
                          <a:ea typeface="Albert Sans"/>
                          <a:cs typeface="Albert Sans"/>
                          <a:sym typeface="Albert Sans"/>
                        </a:rPr>
                        <a:t>1.501.900</a:t>
                      </a:r>
                      <a:endParaRPr sz="1200" dirty="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dirty="0">
                          <a:solidFill>
                            <a:schemeClr val="dk1"/>
                          </a:solidFill>
                          <a:latin typeface="Albert Sans"/>
                          <a:ea typeface="Albert Sans"/>
                          <a:cs typeface="Albert Sans"/>
                          <a:sym typeface="Albert Sans"/>
                        </a:rPr>
                        <a:t>392</a:t>
                      </a:r>
                      <a:endParaRPr sz="1200" dirty="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6" name="Google Shape;236;p39">
            <a:extLst>
              <a:ext uri="{FF2B5EF4-FFF2-40B4-BE49-F238E27FC236}">
                <a16:creationId xmlns:a16="http://schemas.microsoft.com/office/drawing/2014/main" id="{78A15E6D-5797-BA07-FCB0-FDAC3BD70D3F}"/>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Data </a:t>
            </a:r>
            <a:r>
              <a:rPr lang="en-US" b="1" dirty="0"/>
              <a:t>Evaluation</a:t>
            </a:r>
            <a:endParaRPr lang="en-US" dirty="0"/>
          </a:p>
        </p:txBody>
      </p:sp>
    </p:spTree>
    <p:extLst>
      <p:ext uri="{BB962C8B-B14F-4D97-AF65-F5344CB8AC3E}">
        <p14:creationId xmlns:p14="http://schemas.microsoft.com/office/powerpoint/2010/main" val="3743100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 name="Google Shape;236;p39">
            <a:extLst>
              <a:ext uri="{FF2B5EF4-FFF2-40B4-BE49-F238E27FC236}">
                <a16:creationId xmlns:a16="http://schemas.microsoft.com/office/drawing/2014/main" id="{57C2CA18-7653-764C-3D86-1BA3129F22EB}"/>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Data </a:t>
            </a:r>
            <a:r>
              <a:rPr lang="en-US" b="1" dirty="0"/>
              <a:t>Evaluation</a:t>
            </a:r>
            <a:endParaRPr lang="en-US" dirty="0"/>
          </a:p>
        </p:txBody>
      </p:sp>
      <p:sp>
        <p:nvSpPr>
          <p:cNvPr id="3" name="Google Shape;445;p56">
            <a:extLst>
              <a:ext uri="{FF2B5EF4-FFF2-40B4-BE49-F238E27FC236}">
                <a16:creationId xmlns:a16="http://schemas.microsoft.com/office/drawing/2014/main" id="{536D8043-1FB4-72A7-3064-49A9CB064AE4}"/>
              </a:ext>
            </a:extLst>
          </p:cNvPr>
          <p:cNvSpPr txBox="1">
            <a:spLocks noGrp="1"/>
          </p:cNvSpPr>
          <p:nvPr/>
        </p:nvSpPr>
        <p:spPr>
          <a:xfrm>
            <a:off x="452522" y="383733"/>
            <a:ext cx="3780600" cy="456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exandria Medium"/>
              <a:buNone/>
              <a:defRPr sz="1800" b="0" i="0" u="none" strike="noStrike" cap="none">
                <a:solidFill>
                  <a:schemeClr val="lt2"/>
                </a:solidFill>
                <a:latin typeface="Alexandria Medium"/>
                <a:ea typeface="Alexandria Medium"/>
                <a:cs typeface="Alexandria Medium"/>
                <a:sym typeface="Alexandria Medium"/>
              </a:defRPr>
            </a:lvl1pPr>
            <a:lvl2pPr marR="0" lvl="1"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2pPr>
            <a:lvl3pPr marR="0" lvl="2"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3pPr>
            <a:lvl4pPr marR="0" lvl="3"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4pPr>
            <a:lvl5pPr marR="0" lvl="4"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5pPr>
            <a:lvl6pPr marR="0" lvl="5"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6pPr>
            <a:lvl7pPr marR="0" lvl="6"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7pPr>
            <a:lvl8pPr marR="0" lvl="7"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8pPr>
            <a:lvl9pPr marR="0" lvl="8"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9pPr>
          </a:lstStyle>
          <a:p>
            <a:pPr marL="0" lvl="0" indent="0" algn="l" rtl="0">
              <a:spcBef>
                <a:spcPts val="0"/>
              </a:spcBef>
              <a:spcAft>
                <a:spcPts val="0"/>
              </a:spcAft>
              <a:buNone/>
            </a:pPr>
            <a:r>
              <a:rPr lang="en" dirty="0"/>
              <a:t>High-Tier Hospital Distribution</a:t>
            </a:r>
            <a:endParaRPr dirty="0"/>
          </a:p>
        </p:txBody>
      </p:sp>
      <p:sp>
        <p:nvSpPr>
          <p:cNvPr id="9" name="TextBox 8">
            <a:extLst>
              <a:ext uri="{FF2B5EF4-FFF2-40B4-BE49-F238E27FC236}">
                <a16:creationId xmlns:a16="http://schemas.microsoft.com/office/drawing/2014/main" id="{33153CF4-336B-1B5C-3356-77FE4D791274}"/>
              </a:ext>
            </a:extLst>
          </p:cNvPr>
          <p:cNvSpPr txBox="1"/>
          <p:nvPr/>
        </p:nvSpPr>
        <p:spPr>
          <a:xfrm>
            <a:off x="609066" y="3784914"/>
            <a:ext cx="7637507" cy="1015663"/>
          </a:xfrm>
          <a:prstGeom prst="rect">
            <a:avLst/>
          </a:prstGeom>
          <a:noFill/>
        </p:spPr>
        <p:txBody>
          <a:bodyPr wrap="square">
            <a:spAutoFit/>
          </a:bodyPr>
          <a:lstStyle/>
          <a:p>
            <a:pPr marL="60960" marR="0" lvl="0" algn="just" defTabSz="914400" rtl="0" eaLnBrk="1" fontAlgn="auto" latinLnBrk="0" hangingPunct="1">
              <a:lnSpc>
                <a:spcPct val="100000"/>
              </a:lnSpc>
              <a:spcBef>
                <a:spcPts val="0"/>
              </a:spcBef>
              <a:spcAft>
                <a:spcPts val="0"/>
              </a:spcAft>
              <a:buClr>
                <a:srgbClr val="5296B8"/>
              </a:buClr>
              <a:buSzTx/>
              <a:tabLst/>
              <a:defRPr/>
            </a:pPr>
            <a:r>
              <a:rPr lang="en-US" sz="1200" dirty="0">
                <a:solidFill>
                  <a:schemeClr val="dk1"/>
                </a:solidFill>
                <a:latin typeface="Albert Sans"/>
              </a:rPr>
              <a:t>While the hospital beds per 1,000 population indicator suggests that many Indonesian provinces have established a reasonable level of healthcare capacity, this metric alone is insufficient to evaluate healthcare accessibility. </a:t>
            </a:r>
            <a:r>
              <a:rPr lang="en-US" sz="1200" b="1" dirty="0">
                <a:solidFill>
                  <a:schemeClr val="dk1"/>
                </a:solidFill>
                <a:latin typeface="Albert Sans"/>
              </a:rPr>
              <a:t>Access to advanced medical services depends not only on bed availability </a:t>
            </a:r>
            <a:r>
              <a:rPr lang="en-US" sz="1200" dirty="0">
                <a:solidFill>
                  <a:schemeClr val="dk1"/>
                </a:solidFill>
                <a:latin typeface="Albert Sans"/>
              </a:rPr>
              <a:t>but also on the presence of higher-tier hospitals capable of providing </a:t>
            </a:r>
            <a:r>
              <a:rPr lang="en-US" sz="1200" b="1" dirty="0">
                <a:solidFill>
                  <a:schemeClr val="dk1"/>
                </a:solidFill>
                <a:latin typeface="Albert Sans"/>
              </a:rPr>
              <a:t>specialized treatment</a:t>
            </a:r>
            <a:r>
              <a:rPr lang="en-US" sz="1200" dirty="0">
                <a:solidFill>
                  <a:schemeClr val="dk1"/>
                </a:solidFill>
                <a:latin typeface="Albert Sans"/>
              </a:rPr>
              <a:t>, </a:t>
            </a:r>
            <a:r>
              <a:rPr lang="en-US" sz="1200" b="1" dirty="0">
                <a:solidFill>
                  <a:schemeClr val="dk1"/>
                </a:solidFill>
                <a:latin typeface="Albert Sans"/>
              </a:rPr>
              <a:t>sophisticated medical equipment</a:t>
            </a:r>
            <a:r>
              <a:rPr lang="en-US" sz="1200" dirty="0">
                <a:solidFill>
                  <a:schemeClr val="dk1"/>
                </a:solidFill>
                <a:latin typeface="Albert Sans"/>
              </a:rPr>
              <a:t>, and </a:t>
            </a:r>
            <a:r>
              <a:rPr lang="en-US" sz="1200" b="1" dirty="0">
                <a:solidFill>
                  <a:schemeClr val="dk1"/>
                </a:solidFill>
                <a:latin typeface="Albert Sans"/>
              </a:rPr>
              <a:t>comprehensive referral services</a:t>
            </a:r>
            <a:r>
              <a:rPr lang="en-US" sz="1200" dirty="0">
                <a:solidFill>
                  <a:schemeClr val="dk1"/>
                </a:solidFill>
                <a:latin typeface="Albert Sans"/>
              </a:rPr>
              <a:t>.</a:t>
            </a:r>
          </a:p>
        </p:txBody>
      </p:sp>
      <p:sp>
        <p:nvSpPr>
          <p:cNvPr id="10" name="Rectangle: Rounded Corners 9">
            <a:extLst>
              <a:ext uri="{FF2B5EF4-FFF2-40B4-BE49-F238E27FC236}">
                <a16:creationId xmlns:a16="http://schemas.microsoft.com/office/drawing/2014/main" id="{ADA9B526-3FD4-1769-C73D-A5C05F5A6443}"/>
              </a:ext>
            </a:extLst>
          </p:cNvPr>
          <p:cNvSpPr/>
          <p:nvPr/>
        </p:nvSpPr>
        <p:spPr>
          <a:xfrm>
            <a:off x="542330" y="3617421"/>
            <a:ext cx="7886470" cy="1302546"/>
          </a:xfrm>
          <a:prstGeom prst="roundRect">
            <a:avLst>
              <a:gd name="adj" fmla="val 6807"/>
            </a:avLst>
          </a:prstGeom>
          <a:noFill/>
          <a:ln w="952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Google Shape;550;p63">
            <a:extLst>
              <a:ext uri="{FF2B5EF4-FFF2-40B4-BE49-F238E27FC236}">
                <a16:creationId xmlns:a16="http://schemas.microsoft.com/office/drawing/2014/main" id="{919A4AD4-53AA-CD3F-FDA8-0EBFF109B240}"/>
              </a:ext>
            </a:extLst>
          </p:cNvPr>
          <p:cNvGraphicFramePr/>
          <p:nvPr>
            <p:extLst>
              <p:ext uri="{D42A27DB-BD31-4B8C-83A1-F6EECF244321}">
                <p14:modId xmlns:p14="http://schemas.microsoft.com/office/powerpoint/2010/main" val="890027871"/>
              </p:ext>
            </p:extLst>
          </p:nvPr>
        </p:nvGraphicFramePr>
        <p:xfrm>
          <a:off x="542330" y="963051"/>
          <a:ext cx="7886470" cy="2466650"/>
        </p:xfrm>
        <a:graphic>
          <a:graphicData uri="http://schemas.openxmlformats.org/drawingml/2006/table">
            <a:tbl>
              <a:tblPr>
                <a:noFill/>
                <a:tableStyleId>{6794EE09-575A-4CCA-8B22-57579FD86842}</a:tableStyleId>
              </a:tblPr>
              <a:tblGrid>
                <a:gridCol w="2462507">
                  <a:extLst>
                    <a:ext uri="{9D8B030D-6E8A-4147-A177-3AD203B41FA5}">
                      <a16:colId xmlns:a16="http://schemas.microsoft.com/office/drawing/2014/main" val="20000"/>
                    </a:ext>
                  </a:extLst>
                </a:gridCol>
                <a:gridCol w="5423963">
                  <a:extLst>
                    <a:ext uri="{9D8B030D-6E8A-4147-A177-3AD203B41FA5}">
                      <a16:colId xmlns:a16="http://schemas.microsoft.com/office/drawing/2014/main" val="20002"/>
                    </a:ext>
                  </a:extLst>
                </a:gridCol>
              </a:tblGrid>
              <a:tr h="450650">
                <a:tc>
                  <a:txBody>
                    <a:bodyPr/>
                    <a:lstStyle/>
                    <a:p>
                      <a:pPr marL="0" lvl="0" indent="0" algn="l" rtl="0">
                        <a:spcBef>
                          <a:spcPts val="0"/>
                        </a:spcBef>
                        <a:spcAft>
                          <a:spcPts val="0"/>
                        </a:spcAft>
                        <a:buNone/>
                      </a:pPr>
                      <a:r>
                        <a:rPr lang="en-US" sz="1200" dirty="0">
                          <a:solidFill>
                            <a:schemeClr val="lt1"/>
                          </a:solidFill>
                          <a:latin typeface="Alexandria Medium"/>
                          <a:ea typeface="Alexandria Medium"/>
                          <a:cs typeface="Alexandria Medium"/>
                          <a:sym typeface="Alexandria Medium"/>
                        </a:rPr>
                        <a:t>Class</a:t>
                      </a:r>
                      <a:endParaRPr sz="1200" dirty="0">
                        <a:solidFill>
                          <a:schemeClr val="lt1"/>
                        </a:solidFill>
                        <a:latin typeface="Alexandria Medium"/>
                        <a:ea typeface="Alexandria Medium"/>
                        <a:cs typeface="Alexandria Medium"/>
                        <a:sym typeface="Alexandria Medium"/>
                      </a:endParaRPr>
                    </a:p>
                  </a:txBody>
                  <a:tcPr marL="91425" marR="91425" marT="68575" marB="6857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dirty="0">
                          <a:solidFill>
                            <a:schemeClr val="lt1"/>
                          </a:solidFill>
                          <a:latin typeface="Alexandria Medium"/>
                          <a:ea typeface="Alexandria Medium"/>
                          <a:cs typeface="Alexandria Medium"/>
                          <a:sym typeface="Alexandria Medium"/>
                        </a:rPr>
                        <a:t>Typical Services</a:t>
                      </a:r>
                      <a:endParaRPr sz="1200" dirty="0">
                        <a:solidFill>
                          <a:schemeClr val="lt1"/>
                        </a:solidFill>
                        <a:latin typeface="Alexandria Medium"/>
                        <a:ea typeface="Alexandria Medium"/>
                        <a:cs typeface="Alexandria Medium"/>
                        <a:sym typeface="Alexandria Medium"/>
                      </a:endParaRPr>
                    </a:p>
                  </a:txBody>
                  <a:tcPr marL="91425" marR="91425" marT="68575" marB="6857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504000">
                <a:tc>
                  <a:txBody>
                    <a:bodyPr/>
                    <a:lstStyle/>
                    <a:p>
                      <a:pPr marL="0" lvl="0" indent="0" algn="l" rtl="0">
                        <a:spcBef>
                          <a:spcPts val="0"/>
                        </a:spcBef>
                        <a:spcAft>
                          <a:spcPts val="0"/>
                        </a:spcAft>
                        <a:buNone/>
                      </a:pPr>
                      <a:r>
                        <a:rPr lang="en" sz="1200" dirty="0">
                          <a:solidFill>
                            <a:schemeClr val="dk1"/>
                          </a:solidFill>
                          <a:latin typeface="Alexandria Medium"/>
                          <a:ea typeface="Alexandria Medium"/>
                          <a:cs typeface="Alexandria Medium"/>
                          <a:sym typeface="Alexandria Medium"/>
                        </a:rPr>
                        <a:t>Class A</a:t>
                      </a:r>
                      <a:endParaRPr sz="1200" dirty="0">
                        <a:solidFill>
                          <a:schemeClr val="dk1"/>
                        </a:solidFill>
                        <a:latin typeface="Alexandria Medium"/>
                        <a:ea typeface="Alexandria Medium"/>
                        <a:cs typeface="Alexandria Medium"/>
                        <a:sym typeface="Alexandria Medium"/>
                      </a:endParaRPr>
                    </a:p>
                  </a:txBody>
                  <a:tcPr marL="91425" marR="91425" marT="0" marB="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180000" lvl="0" indent="0" algn="l" rtl="0">
                        <a:spcBef>
                          <a:spcPts val="0"/>
                        </a:spcBef>
                        <a:spcAft>
                          <a:spcPts val="0"/>
                        </a:spcAft>
                        <a:buNone/>
                      </a:pPr>
                      <a:r>
                        <a:rPr lang="en-US" sz="1200" dirty="0">
                          <a:solidFill>
                            <a:schemeClr val="dk1"/>
                          </a:solidFill>
                          <a:latin typeface="Albert Sans"/>
                          <a:ea typeface="Albert Sans"/>
                          <a:cs typeface="Albert Sans"/>
                          <a:sym typeface="Albert Sans"/>
                        </a:rPr>
                        <a:t>Comprehensive specialist &amp; subspecialist services, advanced diagnostics, complex surgery, ICU, cancer treatment, organ transplant support, etc.</a:t>
                      </a:r>
                      <a:endParaRPr sz="1200" dirty="0">
                        <a:solidFill>
                          <a:schemeClr val="dk1"/>
                        </a:solidFill>
                        <a:latin typeface="Albert Sans"/>
                        <a:ea typeface="Albert Sans"/>
                        <a:cs typeface="Albert Sans"/>
                        <a:sym typeface="Albert Sans"/>
                      </a:endParaRPr>
                    </a:p>
                  </a:txBody>
                  <a:tcPr marL="0" marR="0" marT="0" marB="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04000">
                <a:tc>
                  <a:txBody>
                    <a:bodyPr/>
                    <a:lstStyle/>
                    <a:p>
                      <a:pPr marL="0" lvl="0" indent="0" algn="l" rtl="0">
                        <a:spcBef>
                          <a:spcPts val="0"/>
                        </a:spcBef>
                        <a:spcAft>
                          <a:spcPts val="0"/>
                        </a:spcAft>
                        <a:buNone/>
                      </a:pPr>
                      <a:r>
                        <a:rPr lang="en" sz="1200" dirty="0">
                          <a:solidFill>
                            <a:schemeClr val="dk1"/>
                          </a:solidFill>
                          <a:latin typeface="Alexandria Medium"/>
                          <a:ea typeface="Alexandria Medium"/>
                          <a:cs typeface="Alexandria Medium"/>
                          <a:sym typeface="Alexandria Medium"/>
                        </a:rPr>
                        <a:t>Class B</a:t>
                      </a:r>
                      <a:endParaRPr sz="1200" dirty="0">
                        <a:solidFill>
                          <a:schemeClr val="dk1"/>
                        </a:solidFill>
                        <a:latin typeface="Alexandria Medium"/>
                        <a:ea typeface="Alexandria Medium"/>
                        <a:cs typeface="Alexandria Medium"/>
                        <a:sym typeface="Alexandria Medium"/>
                      </a:endParaRPr>
                    </a:p>
                  </a:txBody>
                  <a:tcPr marL="91425" marR="91425" marT="0" marB="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180000" lvl="0" indent="0" algn="l" rtl="0">
                        <a:spcBef>
                          <a:spcPts val="0"/>
                        </a:spcBef>
                        <a:spcAft>
                          <a:spcPts val="0"/>
                        </a:spcAft>
                        <a:buNone/>
                      </a:pPr>
                      <a:r>
                        <a:rPr lang="en-US" sz="1200" dirty="0">
                          <a:solidFill>
                            <a:schemeClr val="dk1"/>
                          </a:solidFill>
                          <a:latin typeface="Albert Sans"/>
                          <a:ea typeface="Albert Sans"/>
                          <a:cs typeface="Albert Sans"/>
                          <a:sym typeface="Albert Sans"/>
                        </a:rPr>
                        <a:t>Specialist and several subspecialist services, advanced surgery, intensive care, emergency referral.</a:t>
                      </a:r>
                      <a:endParaRPr sz="1200" dirty="0">
                        <a:solidFill>
                          <a:schemeClr val="dk1"/>
                        </a:solidFill>
                        <a:latin typeface="Albert Sans"/>
                        <a:ea typeface="Albert Sans"/>
                        <a:cs typeface="Albert Sans"/>
                        <a:sym typeface="Albert Sans"/>
                      </a:endParaRPr>
                    </a:p>
                  </a:txBody>
                  <a:tcPr marL="0" marR="0" marT="0" marB="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04000">
                <a:tc>
                  <a:txBody>
                    <a:bodyPr/>
                    <a:lstStyle/>
                    <a:p>
                      <a:pPr marL="0" lvl="0" indent="0" algn="l" rtl="0">
                        <a:spcBef>
                          <a:spcPts val="0"/>
                        </a:spcBef>
                        <a:spcAft>
                          <a:spcPts val="0"/>
                        </a:spcAft>
                        <a:buNone/>
                      </a:pPr>
                      <a:r>
                        <a:rPr lang="en" sz="1200" dirty="0">
                          <a:solidFill>
                            <a:schemeClr val="dk1"/>
                          </a:solidFill>
                          <a:latin typeface="Alexandria Medium"/>
                          <a:ea typeface="Alexandria Medium"/>
                          <a:cs typeface="Alexandria Medium"/>
                          <a:sym typeface="Alexandria Medium"/>
                        </a:rPr>
                        <a:t>Class C</a:t>
                      </a:r>
                      <a:endParaRPr sz="1200" dirty="0">
                        <a:solidFill>
                          <a:schemeClr val="dk1"/>
                        </a:solidFill>
                        <a:latin typeface="Alexandria Medium"/>
                        <a:ea typeface="Alexandria Medium"/>
                        <a:cs typeface="Alexandria Medium"/>
                        <a:sym typeface="Alexandria Medium"/>
                      </a:endParaRPr>
                    </a:p>
                  </a:txBody>
                  <a:tcPr marL="91425" marR="91425" marT="0" marB="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180000" lvl="0" indent="0" algn="l" rtl="0">
                        <a:spcBef>
                          <a:spcPts val="0"/>
                        </a:spcBef>
                        <a:spcAft>
                          <a:spcPts val="0"/>
                        </a:spcAft>
                        <a:buNone/>
                      </a:pPr>
                      <a:r>
                        <a:rPr lang="en-US" sz="1200" dirty="0">
                          <a:solidFill>
                            <a:schemeClr val="dk1"/>
                          </a:solidFill>
                          <a:latin typeface="Albert Sans"/>
                          <a:ea typeface="Albert Sans"/>
                          <a:cs typeface="Albert Sans"/>
                          <a:sym typeface="Albert Sans"/>
                        </a:rPr>
                        <a:t>Basic specialist services (internal medicine, surgery, pediatrics, obstetrics &amp; gynecology).</a:t>
                      </a:r>
                      <a:endParaRPr sz="1200" dirty="0">
                        <a:solidFill>
                          <a:schemeClr val="dk1"/>
                        </a:solidFill>
                        <a:latin typeface="Albert Sans"/>
                        <a:ea typeface="Albert Sans"/>
                        <a:cs typeface="Albert Sans"/>
                        <a:sym typeface="Albert Sans"/>
                      </a:endParaRPr>
                    </a:p>
                  </a:txBody>
                  <a:tcPr marL="0" marR="0" marT="0" marB="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04000">
                <a:tc>
                  <a:txBody>
                    <a:bodyPr/>
                    <a:lstStyle/>
                    <a:p>
                      <a:pPr marL="0" lvl="0" indent="0" algn="l" rtl="0">
                        <a:spcBef>
                          <a:spcPts val="0"/>
                        </a:spcBef>
                        <a:spcAft>
                          <a:spcPts val="0"/>
                        </a:spcAft>
                        <a:buNone/>
                      </a:pPr>
                      <a:r>
                        <a:rPr lang="en" sz="1200" dirty="0">
                          <a:solidFill>
                            <a:schemeClr val="dk1"/>
                          </a:solidFill>
                          <a:latin typeface="Alexandria Medium"/>
                          <a:ea typeface="Alexandria Medium"/>
                          <a:cs typeface="Alexandria Medium"/>
                          <a:sym typeface="Alexandria Medium"/>
                        </a:rPr>
                        <a:t>Class D</a:t>
                      </a:r>
                      <a:endParaRPr sz="1200" dirty="0">
                        <a:solidFill>
                          <a:schemeClr val="dk1"/>
                        </a:solidFill>
                        <a:latin typeface="Alexandria Medium"/>
                        <a:ea typeface="Alexandria Medium"/>
                        <a:cs typeface="Alexandria Medium"/>
                        <a:sym typeface="Alexandria Medium"/>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180000" lvl="0" indent="0" algn="l" rtl="0">
                        <a:spcBef>
                          <a:spcPts val="0"/>
                        </a:spcBef>
                        <a:spcAft>
                          <a:spcPts val="0"/>
                        </a:spcAft>
                        <a:buNone/>
                      </a:pPr>
                      <a:r>
                        <a:rPr lang="en-US" sz="1200" dirty="0">
                          <a:solidFill>
                            <a:schemeClr val="dk1"/>
                          </a:solidFill>
                          <a:latin typeface="Albert Sans"/>
                          <a:ea typeface="Albert Sans"/>
                          <a:cs typeface="Albert Sans"/>
                          <a:sym typeface="Albert Sans"/>
                        </a:rPr>
                        <a:t>General medical care, emergency care, stabilization, limited specialist services.</a:t>
                      </a:r>
                      <a:endParaRPr sz="1200" dirty="0">
                        <a:solidFill>
                          <a:schemeClr val="dk1"/>
                        </a:solidFill>
                        <a:latin typeface="Albert Sans"/>
                        <a:ea typeface="Albert Sans"/>
                        <a:cs typeface="Albert Sans"/>
                        <a:sym typeface="Albert Sans"/>
                      </a:endParaRPr>
                    </a:p>
                  </a:txBody>
                  <a:tcPr marL="0" marR="0" marT="0" marB="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4429487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3" name="Google Shape;445;p56">
            <a:extLst>
              <a:ext uri="{FF2B5EF4-FFF2-40B4-BE49-F238E27FC236}">
                <a16:creationId xmlns:a16="http://schemas.microsoft.com/office/drawing/2014/main" id="{536D8043-1FB4-72A7-3064-49A9CB064AE4}"/>
              </a:ext>
            </a:extLst>
          </p:cNvPr>
          <p:cNvSpPr txBox="1">
            <a:spLocks noGrp="1"/>
          </p:cNvSpPr>
          <p:nvPr/>
        </p:nvSpPr>
        <p:spPr>
          <a:xfrm>
            <a:off x="452522" y="383733"/>
            <a:ext cx="3780600" cy="456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exandria Medium"/>
              <a:buNone/>
              <a:defRPr sz="1800" b="0" i="0" u="none" strike="noStrike" cap="none">
                <a:solidFill>
                  <a:schemeClr val="lt2"/>
                </a:solidFill>
                <a:latin typeface="Alexandria Medium"/>
                <a:ea typeface="Alexandria Medium"/>
                <a:cs typeface="Alexandria Medium"/>
                <a:sym typeface="Alexandria Medium"/>
              </a:defRPr>
            </a:lvl1pPr>
            <a:lvl2pPr marR="0" lvl="1"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2pPr>
            <a:lvl3pPr marR="0" lvl="2"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3pPr>
            <a:lvl4pPr marR="0" lvl="3"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4pPr>
            <a:lvl5pPr marR="0" lvl="4"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5pPr>
            <a:lvl6pPr marR="0" lvl="5"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6pPr>
            <a:lvl7pPr marR="0" lvl="6"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7pPr>
            <a:lvl8pPr marR="0" lvl="7"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8pPr>
            <a:lvl9pPr marR="0" lvl="8"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9pPr>
          </a:lstStyle>
          <a:p>
            <a:pPr marL="0" lvl="0" indent="0" algn="l" rtl="0">
              <a:spcBef>
                <a:spcPts val="0"/>
              </a:spcBef>
              <a:spcAft>
                <a:spcPts val="0"/>
              </a:spcAft>
              <a:buNone/>
            </a:pPr>
            <a:r>
              <a:rPr lang="en" dirty="0"/>
              <a:t>High-Tier Hospital Distribution</a:t>
            </a:r>
            <a:endParaRPr dirty="0"/>
          </a:p>
        </p:txBody>
      </p:sp>
      <p:sp>
        <p:nvSpPr>
          <p:cNvPr id="9" name="TextBox 8">
            <a:extLst>
              <a:ext uri="{FF2B5EF4-FFF2-40B4-BE49-F238E27FC236}">
                <a16:creationId xmlns:a16="http://schemas.microsoft.com/office/drawing/2014/main" id="{33153CF4-336B-1B5C-3356-77FE4D791274}"/>
              </a:ext>
            </a:extLst>
          </p:cNvPr>
          <p:cNvSpPr txBox="1"/>
          <p:nvPr/>
        </p:nvSpPr>
        <p:spPr>
          <a:xfrm>
            <a:off x="650483" y="3342275"/>
            <a:ext cx="7637507" cy="1015663"/>
          </a:xfrm>
          <a:prstGeom prst="rect">
            <a:avLst/>
          </a:prstGeom>
          <a:noFill/>
        </p:spPr>
        <p:txBody>
          <a:bodyPr wrap="square">
            <a:spAutoFit/>
          </a:bodyPr>
          <a:lstStyle/>
          <a:p>
            <a:pPr marL="60960" marR="0" lvl="0" algn="just" defTabSz="914400" rtl="0" eaLnBrk="1" fontAlgn="auto" latinLnBrk="0" hangingPunct="1">
              <a:lnSpc>
                <a:spcPct val="100000"/>
              </a:lnSpc>
              <a:spcBef>
                <a:spcPts val="0"/>
              </a:spcBef>
              <a:spcAft>
                <a:spcPts val="0"/>
              </a:spcAft>
              <a:buClr>
                <a:srgbClr val="5296B8"/>
              </a:buClr>
              <a:buSzTx/>
              <a:tabLst/>
              <a:defRPr/>
            </a:pPr>
            <a:r>
              <a:rPr lang="en-US" sz="1200" dirty="0">
                <a:solidFill>
                  <a:schemeClr val="dk1"/>
                </a:solidFill>
                <a:latin typeface="Albert Sans"/>
              </a:rPr>
              <a:t>In this analysis, high-tier hospitals refer to the combined number of Class A and Class B hospitals, which provide advanced medical services and specialized healthcare. The distribution of these hospitals is highly concentrated in a few provinces, particularly </a:t>
            </a:r>
            <a:r>
              <a:rPr lang="en-US" sz="1200" b="1" dirty="0">
                <a:solidFill>
                  <a:schemeClr val="dk1"/>
                </a:solidFill>
                <a:latin typeface="Albert Sans"/>
              </a:rPr>
              <a:t>West Java</a:t>
            </a:r>
            <a:r>
              <a:rPr lang="en-US" sz="1200" dirty="0">
                <a:solidFill>
                  <a:schemeClr val="dk1"/>
                </a:solidFill>
                <a:latin typeface="Albert Sans"/>
              </a:rPr>
              <a:t>, </a:t>
            </a:r>
            <a:r>
              <a:rPr lang="en-US" sz="1200" b="1" dirty="0">
                <a:solidFill>
                  <a:schemeClr val="dk1"/>
                </a:solidFill>
                <a:latin typeface="Albert Sans"/>
              </a:rPr>
              <a:t>DKI Jakarta</a:t>
            </a:r>
            <a:r>
              <a:rPr lang="en-US" sz="1200" dirty="0">
                <a:solidFill>
                  <a:schemeClr val="dk1"/>
                </a:solidFill>
                <a:latin typeface="Albert Sans"/>
              </a:rPr>
              <a:t>, and </a:t>
            </a:r>
            <a:r>
              <a:rPr lang="en-US" sz="1200" b="1" dirty="0">
                <a:solidFill>
                  <a:schemeClr val="dk1"/>
                </a:solidFill>
                <a:latin typeface="Albert Sans"/>
              </a:rPr>
              <a:t>East Java</a:t>
            </a:r>
            <a:r>
              <a:rPr lang="en-US" sz="1200" dirty="0">
                <a:solidFill>
                  <a:schemeClr val="dk1"/>
                </a:solidFill>
                <a:latin typeface="Albert Sans"/>
              </a:rPr>
              <a:t>. In contrast, many provinces have only a limited number of high-tier hospitals, while </a:t>
            </a:r>
            <a:r>
              <a:rPr lang="en-US" sz="1200" b="1" dirty="0">
                <a:solidFill>
                  <a:schemeClr val="dk1"/>
                </a:solidFill>
                <a:latin typeface="Albert Sans"/>
              </a:rPr>
              <a:t>Papua Barat</a:t>
            </a:r>
            <a:r>
              <a:rPr lang="en-US" sz="1200" dirty="0">
                <a:solidFill>
                  <a:schemeClr val="dk1"/>
                </a:solidFill>
                <a:latin typeface="Albert Sans"/>
              </a:rPr>
              <a:t>, </a:t>
            </a:r>
            <a:r>
              <a:rPr lang="en-US" sz="1200" b="1" dirty="0">
                <a:solidFill>
                  <a:schemeClr val="dk1"/>
                </a:solidFill>
                <a:latin typeface="Albert Sans"/>
              </a:rPr>
              <a:t>Papua Barat Daya</a:t>
            </a:r>
            <a:r>
              <a:rPr lang="en-US" sz="1200" dirty="0">
                <a:solidFill>
                  <a:schemeClr val="dk1"/>
                </a:solidFill>
                <a:latin typeface="Albert Sans"/>
              </a:rPr>
              <a:t>, </a:t>
            </a:r>
            <a:r>
              <a:rPr lang="en-US" sz="1200" b="1" dirty="0">
                <a:solidFill>
                  <a:schemeClr val="dk1"/>
                </a:solidFill>
                <a:latin typeface="Albert Sans"/>
              </a:rPr>
              <a:t>Papua </a:t>
            </a:r>
            <a:r>
              <a:rPr lang="en-US" sz="1200" b="1" dirty="0" err="1">
                <a:solidFill>
                  <a:schemeClr val="dk1"/>
                </a:solidFill>
                <a:latin typeface="Albert Sans"/>
              </a:rPr>
              <a:t>Pegunungan</a:t>
            </a:r>
            <a:r>
              <a:rPr lang="en-US" sz="1200" dirty="0">
                <a:solidFill>
                  <a:schemeClr val="dk1"/>
                </a:solidFill>
                <a:latin typeface="Albert Sans"/>
              </a:rPr>
              <a:t>, and </a:t>
            </a:r>
            <a:r>
              <a:rPr lang="en-US" sz="1200" b="1" dirty="0">
                <a:solidFill>
                  <a:schemeClr val="dk1"/>
                </a:solidFill>
                <a:latin typeface="Albert Sans"/>
              </a:rPr>
              <a:t>Papua Tengah</a:t>
            </a:r>
            <a:r>
              <a:rPr lang="en-US" sz="1200" dirty="0">
                <a:solidFill>
                  <a:schemeClr val="dk1"/>
                </a:solidFill>
                <a:latin typeface="Albert Sans"/>
              </a:rPr>
              <a:t> have none.</a:t>
            </a:r>
          </a:p>
        </p:txBody>
      </p:sp>
      <p:sp>
        <p:nvSpPr>
          <p:cNvPr id="10" name="Rectangle: Rounded Corners 9">
            <a:extLst>
              <a:ext uri="{FF2B5EF4-FFF2-40B4-BE49-F238E27FC236}">
                <a16:creationId xmlns:a16="http://schemas.microsoft.com/office/drawing/2014/main" id="{ADA9B526-3FD4-1769-C73D-A5C05F5A6443}"/>
              </a:ext>
            </a:extLst>
          </p:cNvPr>
          <p:cNvSpPr/>
          <p:nvPr/>
        </p:nvSpPr>
        <p:spPr>
          <a:xfrm>
            <a:off x="542330" y="3192236"/>
            <a:ext cx="7886470" cy="1338943"/>
          </a:xfrm>
          <a:prstGeom prst="roundRect">
            <a:avLst>
              <a:gd name="adj" fmla="val 6807"/>
            </a:avLst>
          </a:prstGeom>
          <a:noFill/>
          <a:ln w="952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AD132CCF-3299-8578-2DA7-759EF1A97CD2}"/>
              </a:ext>
            </a:extLst>
          </p:cNvPr>
          <p:cNvPicPr>
            <a:picLocks noChangeAspect="1"/>
          </p:cNvPicPr>
          <p:nvPr/>
        </p:nvPicPr>
        <p:blipFill>
          <a:blip r:embed="rId3"/>
          <a:stretch>
            <a:fillRect/>
          </a:stretch>
        </p:blipFill>
        <p:spPr>
          <a:xfrm>
            <a:off x="1154619" y="1139639"/>
            <a:ext cx="1924149" cy="1720938"/>
          </a:xfrm>
          <a:prstGeom prst="rect">
            <a:avLst/>
          </a:prstGeom>
        </p:spPr>
      </p:pic>
      <p:pic>
        <p:nvPicPr>
          <p:cNvPr id="13" name="Picture 12">
            <a:extLst>
              <a:ext uri="{FF2B5EF4-FFF2-40B4-BE49-F238E27FC236}">
                <a16:creationId xmlns:a16="http://schemas.microsoft.com/office/drawing/2014/main" id="{353A7FE1-1184-C8FF-0DF8-9FA2E009BB47}"/>
              </a:ext>
            </a:extLst>
          </p:cNvPr>
          <p:cNvPicPr>
            <a:picLocks noChangeAspect="1"/>
          </p:cNvPicPr>
          <p:nvPr/>
        </p:nvPicPr>
        <p:blipFill>
          <a:blip r:embed="rId4"/>
          <a:stretch>
            <a:fillRect/>
          </a:stretch>
        </p:blipFill>
        <p:spPr>
          <a:xfrm>
            <a:off x="3423382" y="1135951"/>
            <a:ext cx="1949550" cy="1752690"/>
          </a:xfrm>
          <a:prstGeom prst="rect">
            <a:avLst/>
          </a:prstGeom>
        </p:spPr>
      </p:pic>
      <p:pic>
        <p:nvPicPr>
          <p:cNvPr id="16" name="Picture 15">
            <a:extLst>
              <a:ext uri="{FF2B5EF4-FFF2-40B4-BE49-F238E27FC236}">
                <a16:creationId xmlns:a16="http://schemas.microsoft.com/office/drawing/2014/main" id="{0D0DEA4C-FCD6-E14D-2B6C-5BA9EFD79639}"/>
              </a:ext>
            </a:extLst>
          </p:cNvPr>
          <p:cNvPicPr>
            <a:picLocks noChangeAspect="1"/>
          </p:cNvPicPr>
          <p:nvPr/>
        </p:nvPicPr>
        <p:blipFill>
          <a:blip r:embed="rId5"/>
          <a:stretch>
            <a:fillRect/>
          </a:stretch>
        </p:blipFill>
        <p:spPr>
          <a:xfrm>
            <a:off x="5717546" y="1139639"/>
            <a:ext cx="1949550" cy="1720938"/>
          </a:xfrm>
          <a:prstGeom prst="rect">
            <a:avLst/>
          </a:prstGeom>
        </p:spPr>
      </p:pic>
      <p:sp>
        <p:nvSpPr>
          <p:cNvPr id="17" name="Google Shape;236;p39">
            <a:extLst>
              <a:ext uri="{FF2B5EF4-FFF2-40B4-BE49-F238E27FC236}">
                <a16:creationId xmlns:a16="http://schemas.microsoft.com/office/drawing/2014/main" id="{9BDB3C5E-A210-4E1C-4359-51AF747AB928}"/>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dirty="0"/>
              <a:t>Data </a:t>
            </a:r>
            <a:r>
              <a:rPr lang="en-US" b="1" dirty="0"/>
              <a:t>Evaluation</a:t>
            </a:r>
            <a:endParaRPr lang="en-US" dirty="0"/>
          </a:p>
        </p:txBody>
      </p:sp>
    </p:spTree>
    <p:extLst>
      <p:ext uri="{BB962C8B-B14F-4D97-AF65-F5344CB8AC3E}">
        <p14:creationId xmlns:p14="http://schemas.microsoft.com/office/powerpoint/2010/main" val="3314168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cxnSp>
        <p:nvCxnSpPr>
          <p:cNvPr id="524" name="Google Shape;524;p61"/>
          <p:cNvCxnSpPr>
            <a:cxnSpLocks/>
            <a:endCxn id="513" idx="0"/>
          </p:cNvCxnSpPr>
          <p:nvPr/>
        </p:nvCxnSpPr>
        <p:spPr>
          <a:xfrm>
            <a:off x="775546" y="1535487"/>
            <a:ext cx="0" cy="336300"/>
          </a:xfrm>
          <a:prstGeom prst="straightConnector1">
            <a:avLst/>
          </a:prstGeom>
          <a:noFill/>
          <a:ln w="9525" cap="flat" cmpd="sng">
            <a:solidFill>
              <a:schemeClr val="dk1"/>
            </a:solidFill>
            <a:prstDash val="solid"/>
            <a:round/>
            <a:headEnd type="none" w="med" len="med"/>
            <a:tailEnd type="none" w="med" len="med"/>
          </a:ln>
        </p:spPr>
      </p:cxnSp>
      <p:sp>
        <p:nvSpPr>
          <p:cNvPr id="509" name="Google Shape;509;p61"/>
          <p:cNvSpPr/>
          <p:nvPr/>
        </p:nvSpPr>
        <p:spPr>
          <a:xfrm>
            <a:off x="715096" y="1149683"/>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61"/>
          <p:cNvSpPr txBox="1"/>
          <p:nvPr/>
        </p:nvSpPr>
        <p:spPr>
          <a:xfrm>
            <a:off x="988400" y="981543"/>
            <a:ext cx="7380052" cy="457200"/>
          </a:xfrm>
          <a:prstGeom prst="rect">
            <a:avLst/>
          </a:prstGeom>
          <a:no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US" sz="1200" dirty="0">
                <a:solidFill>
                  <a:schemeClr val="dk1"/>
                </a:solidFill>
                <a:latin typeface="Alexandria Medium"/>
                <a:ea typeface="Alexandria Medium"/>
                <a:cs typeface="Alexandria Medium"/>
                <a:sym typeface="Alexandria Medium"/>
              </a:rPr>
              <a:t>Healthcare infrastructure is available across all Indonesian provinces, with a total of 3,155 hospitals, 394,985 hospital beds, and 826,549 healthcare workers.</a:t>
            </a:r>
            <a:endParaRPr sz="1200" dirty="0">
              <a:solidFill>
                <a:schemeClr val="dk1"/>
              </a:solidFill>
              <a:latin typeface="Alexandria Medium"/>
              <a:ea typeface="Alexandria Medium"/>
              <a:cs typeface="Alexandria Medium"/>
              <a:sym typeface="Alexandria Medium"/>
            </a:endParaRPr>
          </a:p>
        </p:txBody>
      </p:sp>
      <p:sp>
        <p:nvSpPr>
          <p:cNvPr id="512" name="Google Shape;512;p61"/>
          <p:cNvSpPr txBox="1"/>
          <p:nvPr/>
        </p:nvSpPr>
        <p:spPr>
          <a:xfrm>
            <a:off x="988399" y="1691479"/>
            <a:ext cx="7380052" cy="457200"/>
          </a:xfrm>
          <a:prstGeom prst="rect">
            <a:avLst/>
          </a:prstGeom>
          <a:no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US" sz="1200" dirty="0">
                <a:solidFill>
                  <a:schemeClr val="dk1"/>
                </a:solidFill>
                <a:latin typeface="Alexandria Medium"/>
                <a:ea typeface="Alexandria Medium"/>
                <a:cs typeface="Alexandria Medium"/>
                <a:sym typeface="Alexandria Medium"/>
              </a:rPr>
              <a:t>Hospital beds per 1,000 population indicate that many provinces have established a reasonable level of inpatient healthcare capacity, suggesting that basic healthcare infrastructure is relatively widespread.</a:t>
            </a:r>
            <a:endParaRPr sz="1200" dirty="0">
              <a:solidFill>
                <a:schemeClr val="dk1"/>
              </a:solidFill>
              <a:latin typeface="Alexandria Medium"/>
              <a:ea typeface="Alexandria Medium"/>
              <a:cs typeface="Alexandria Medium"/>
              <a:sym typeface="Alexandria Medium"/>
            </a:endParaRPr>
          </a:p>
        </p:txBody>
      </p:sp>
      <p:sp>
        <p:nvSpPr>
          <p:cNvPr id="514" name="Google Shape;514;p61"/>
          <p:cNvSpPr txBox="1"/>
          <p:nvPr/>
        </p:nvSpPr>
        <p:spPr>
          <a:xfrm>
            <a:off x="988399" y="2367162"/>
            <a:ext cx="7380052" cy="457200"/>
          </a:xfrm>
          <a:prstGeom prst="rect">
            <a:avLst/>
          </a:prstGeom>
          <a:no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US" sz="1200" dirty="0">
                <a:solidFill>
                  <a:schemeClr val="dk1"/>
                </a:solidFill>
                <a:latin typeface="Alexandria Medium"/>
                <a:ea typeface="Alexandria Medium"/>
                <a:cs typeface="Alexandria Medium"/>
                <a:sym typeface="Alexandria Medium"/>
              </a:rPr>
              <a:t>However, the distribution of Class A and Class B hospitals remains highly concentrated, particularly in Java, while several provinces have few or no high-tier hospitals.</a:t>
            </a:r>
            <a:endParaRPr sz="1200" dirty="0">
              <a:solidFill>
                <a:schemeClr val="dk1"/>
              </a:solidFill>
              <a:latin typeface="Alexandria Medium"/>
              <a:ea typeface="Alexandria Medium"/>
              <a:cs typeface="Alexandria Medium"/>
              <a:sym typeface="Alexandria Medium"/>
            </a:endParaRPr>
          </a:p>
        </p:txBody>
      </p:sp>
      <p:sp>
        <p:nvSpPr>
          <p:cNvPr id="515" name="Google Shape;515;p61"/>
          <p:cNvSpPr/>
          <p:nvPr/>
        </p:nvSpPr>
        <p:spPr>
          <a:xfrm>
            <a:off x="715096" y="2521283"/>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23" name="Google Shape;523;p61"/>
          <p:cNvCxnSpPr>
            <a:cxnSpLocks/>
            <a:stCxn id="509" idx="2"/>
          </p:cNvCxnSpPr>
          <p:nvPr/>
        </p:nvCxnSpPr>
        <p:spPr>
          <a:xfrm>
            <a:off x="775546" y="1270583"/>
            <a:ext cx="0" cy="649496"/>
          </a:xfrm>
          <a:prstGeom prst="straightConnector1">
            <a:avLst/>
          </a:prstGeom>
          <a:noFill/>
          <a:ln w="9525" cap="flat" cmpd="sng">
            <a:solidFill>
              <a:schemeClr val="dk1"/>
            </a:solidFill>
            <a:prstDash val="solid"/>
            <a:round/>
            <a:headEnd type="none" w="med" len="med"/>
            <a:tailEnd type="none" w="med" len="med"/>
          </a:ln>
        </p:spPr>
      </p:cxnSp>
      <p:cxnSp>
        <p:nvCxnSpPr>
          <p:cNvPr id="525" name="Google Shape;525;p61"/>
          <p:cNvCxnSpPr>
            <a:cxnSpLocks/>
            <a:stCxn id="513" idx="2"/>
            <a:endCxn id="515" idx="0"/>
          </p:cNvCxnSpPr>
          <p:nvPr/>
        </p:nvCxnSpPr>
        <p:spPr>
          <a:xfrm>
            <a:off x="775546" y="1992687"/>
            <a:ext cx="0" cy="528596"/>
          </a:xfrm>
          <a:prstGeom prst="straightConnector1">
            <a:avLst/>
          </a:prstGeom>
          <a:noFill/>
          <a:ln w="9525" cap="flat" cmpd="sng">
            <a:solidFill>
              <a:schemeClr val="dk1"/>
            </a:solidFill>
            <a:prstDash val="solid"/>
            <a:round/>
            <a:headEnd type="none" w="med" len="med"/>
            <a:tailEnd type="none" w="med" len="med"/>
          </a:ln>
        </p:spPr>
      </p:cxnSp>
      <p:sp>
        <p:nvSpPr>
          <p:cNvPr id="2" name="Google Shape;236;p39">
            <a:extLst>
              <a:ext uri="{FF2B5EF4-FFF2-40B4-BE49-F238E27FC236}">
                <a16:creationId xmlns:a16="http://schemas.microsoft.com/office/drawing/2014/main" id="{1F78E025-E27E-A46B-FCAB-48077B797216}"/>
              </a:ext>
            </a:extLst>
          </p:cNvPr>
          <p:cNvSpPr txBox="1">
            <a:spLocks/>
          </p:cNvSpPr>
          <p:nvPr/>
        </p:nvSpPr>
        <p:spPr>
          <a:xfrm>
            <a:off x="4572000" y="417633"/>
            <a:ext cx="3856800" cy="388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b="1" dirty="0"/>
              <a:t>Conclusion</a:t>
            </a:r>
            <a:endParaRPr lang="en-US" dirty="0"/>
          </a:p>
        </p:txBody>
      </p:sp>
      <p:sp>
        <p:nvSpPr>
          <p:cNvPr id="6" name="Google Shape;445;p56">
            <a:extLst>
              <a:ext uri="{FF2B5EF4-FFF2-40B4-BE49-F238E27FC236}">
                <a16:creationId xmlns:a16="http://schemas.microsoft.com/office/drawing/2014/main" id="{CD7DC1F1-B9E9-B09A-EF52-9188AF446B20}"/>
              </a:ext>
            </a:extLst>
          </p:cNvPr>
          <p:cNvSpPr txBox="1">
            <a:spLocks noGrp="1"/>
          </p:cNvSpPr>
          <p:nvPr/>
        </p:nvSpPr>
        <p:spPr>
          <a:xfrm>
            <a:off x="452522" y="383733"/>
            <a:ext cx="3780600" cy="456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exandria Medium"/>
              <a:buNone/>
              <a:defRPr sz="1800" b="0" i="0" u="none" strike="noStrike" cap="none">
                <a:solidFill>
                  <a:schemeClr val="lt2"/>
                </a:solidFill>
                <a:latin typeface="Alexandria Medium"/>
                <a:ea typeface="Alexandria Medium"/>
                <a:cs typeface="Alexandria Medium"/>
                <a:sym typeface="Alexandria Medium"/>
              </a:defRPr>
            </a:lvl1pPr>
            <a:lvl2pPr marR="0" lvl="1"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2pPr>
            <a:lvl3pPr marR="0" lvl="2"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3pPr>
            <a:lvl4pPr marR="0" lvl="3"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4pPr>
            <a:lvl5pPr marR="0" lvl="4"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5pPr>
            <a:lvl6pPr marR="0" lvl="5"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6pPr>
            <a:lvl7pPr marR="0" lvl="6"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7pPr>
            <a:lvl8pPr marR="0" lvl="7"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8pPr>
            <a:lvl9pPr marR="0" lvl="8"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9pPr>
          </a:lstStyle>
          <a:p>
            <a:pPr marL="0" lvl="0" indent="0" algn="l" rtl="0">
              <a:spcBef>
                <a:spcPts val="0"/>
              </a:spcBef>
              <a:spcAft>
                <a:spcPts val="0"/>
              </a:spcAft>
              <a:buNone/>
            </a:pPr>
            <a:r>
              <a:rPr lang="en" dirty="0"/>
              <a:t>Key Findings</a:t>
            </a:r>
            <a:endParaRPr dirty="0"/>
          </a:p>
        </p:txBody>
      </p:sp>
      <p:sp>
        <p:nvSpPr>
          <p:cNvPr id="513" name="Google Shape;513;p61"/>
          <p:cNvSpPr/>
          <p:nvPr/>
        </p:nvSpPr>
        <p:spPr>
          <a:xfrm>
            <a:off x="715096" y="1871787"/>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45;p56">
            <a:extLst>
              <a:ext uri="{FF2B5EF4-FFF2-40B4-BE49-F238E27FC236}">
                <a16:creationId xmlns:a16="http://schemas.microsoft.com/office/drawing/2014/main" id="{CB129386-BA0A-A3CE-9E64-AF03FBEF5D9E}"/>
              </a:ext>
            </a:extLst>
          </p:cNvPr>
          <p:cNvSpPr txBox="1">
            <a:spLocks noGrp="1"/>
          </p:cNvSpPr>
          <p:nvPr/>
        </p:nvSpPr>
        <p:spPr>
          <a:xfrm>
            <a:off x="452522" y="2994822"/>
            <a:ext cx="3780600" cy="456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exandria Medium"/>
              <a:buNone/>
              <a:defRPr sz="1800" b="0" i="0" u="none" strike="noStrike" cap="none">
                <a:solidFill>
                  <a:schemeClr val="lt2"/>
                </a:solidFill>
                <a:latin typeface="Alexandria Medium"/>
                <a:ea typeface="Alexandria Medium"/>
                <a:cs typeface="Alexandria Medium"/>
                <a:sym typeface="Alexandria Medium"/>
              </a:defRPr>
            </a:lvl1pPr>
            <a:lvl2pPr marR="0" lvl="1"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2pPr>
            <a:lvl3pPr marR="0" lvl="2"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3pPr>
            <a:lvl4pPr marR="0" lvl="3"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4pPr>
            <a:lvl5pPr marR="0" lvl="4"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5pPr>
            <a:lvl6pPr marR="0" lvl="5"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6pPr>
            <a:lvl7pPr marR="0" lvl="6"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7pPr>
            <a:lvl8pPr marR="0" lvl="7"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8pPr>
            <a:lvl9pPr marR="0" lvl="8" algn="l" rtl="0">
              <a:lnSpc>
                <a:spcPct val="100000"/>
              </a:lnSpc>
              <a:spcBef>
                <a:spcPts val="0"/>
              </a:spcBef>
              <a:spcAft>
                <a:spcPts val="0"/>
              </a:spcAft>
              <a:buClr>
                <a:schemeClr val="dk1"/>
              </a:buClr>
              <a:buSzPts val="3000"/>
              <a:buFont typeface="Alexandria Medium"/>
              <a:buNone/>
              <a:defRPr sz="3000" b="0" i="0" u="none" strike="noStrike" cap="none">
                <a:solidFill>
                  <a:schemeClr val="dk1"/>
                </a:solidFill>
                <a:latin typeface="Alexandria Medium"/>
                <a:ea typeface="Alexandria Medium"/>
                <a:cs typeface="Alexandria Medium"/>
                <a:sym typeface="Alexandria Medium"/>
              </a:defRPr>
            </a:lvl9pPr>
          </a:lstStyle>
          <a:p>
            <a:pPr marL="0" lvl="0" indent="0" algn="l" rtl="0">
              <a:spcBef>
                <a:spcPts val="0"/>
              </a:spcBef>
              <a:spcAft>
                <a:spcPts val="0"/>
              </a:spcAft>
              <a:buNone/>
            </a:pPr>
            <a:r>
              <a:rPr lang="en" dirty="0"/>
              <a:t>Recommendations</a:t>
            </a:r>
            <a:endParaRPr dirty="0"/>
          </a:p>
        </p:txBody>
      </p:sp>
      <p:sp>
        <p:nvSpPr>
          <p:cNvPr id="10" name="TextBox 9">
            <a:extLst>
              <a:ext uri="{FF2B5EF4-FFF2-40B4-BE49-F238E27FC236}">
                <a16:creationId xmlns:a16="http://schemas.microsoft.com/office/drawing/2014/main" id="{4E49A6F8-7D75-D99F-1BEA-9E5B2C61BA84}"/>
              </a:ext>
            </a:extLst>
          </p:cNvPr>
          <p:cNvSpPr txBox="1"/>
          <p:nvPr/>
        </p:nvSpPr>
        <p:spPr>
          <a:xfrm>
            <a:off x="650483" y="3726089"/>
            <a:ext cx="7637507" cy="1015663"/>
          </a:xfrm>
          <a:prstGeom prst="rect">
            <a:avLst/>
          </a:prstGeom>
          <a:noFill/>
        </p:spPr>
        <p:txBody>
          <a:bodyPr wrap="square">
            <a:spAutoFit/>
          </a:bodyPr>
          <a:lstStyle/>
          <a:p>
            <a:pPr marL="60960" marR="0" lvl="0" algn="just" defTabSz="914400" rtl="0" eaLnBrk="1" fontAlgn="auto" latinLnBrk="0" hangingPunct="1">
              <a:lnSpc>
                <a:spcPct val="100000"/>
              </a:lnSpc>
              <a:spcBef>
                <a:spcPts val="0"/>
              </a:spcBef>
              <a:spcAft>
                <a:spcPts val="0"/>
              </a:spcAft>
              <a:buClr>
                <a:srgbClr val="5296B8"/>
              </a:buClr>
              <a:buSzTx/>
              <a:tabLst/>
              <a:defRPr/>
            </a:pPr>
            <a:r>
              <a:rPr lang="en-US" sz="1200" dirty="0">
                <a:solidFill>
                  <a:schemeClr val="dk1"/>
                </a:solidFill>
                <a:latin typeface="Albert Sans"/>
              </a:rPr>
              <a:t>Although Indonesia has successfully expanded its basic healthcare infrastructure, equitable access to advanced healthcare services has not yet been achieved. The unequal distribution of high-tier hospitals suggests that patients in several provinces may face limited access to specialized services and rely on referrals to other regions. Therefore, </a:t>
            </a:r>
            <a:r>
              <a:rPr lang="en-US" sz="1200" b="1" dirty="0">
                <a:solidFill>
                  <a:schemeClr val="dk1"/>
                </a:solidFill>
                <a:latin typeface="Albert Sans"/>
              </a:rPr>
              <a:t>future healthcare planning should focus not only on increasing infrastructure but also on improving the equitable distribution of high-tier healthcare services</a:t>
            </a:r>
            <a:r>
              <a:rPr lang="en-US" sz="1200" dirty="0">
                <a:solidFill>
                  <a:schemeClr val="dk1"/>
                </a:solidFill>
                <a:latin typeface="Albert Sans"/>
              </a:rPr>
              <a:t>.</a:t>
            </a:r>
          </a:p>
        </p:txBody>
      </p:sp>
      <p:sp>
        <p:nvSpPr>
          <p:cNvPr id="11" name="Rectangle: Rounded Corners 10">
            <a:extLst>
              <a:ext uri="{FF2B5EF4-FFF2-40B4-BE49-F238E27FC236}">
                <a16:creationId xmlns:a16="http://schemas.microsoft.com/office/drawing/2014/main" id="{3FB2B263-43C1-0ECD-0831-F8CC858A9DA2}"/>
              </a:ext>
            </a:extLst>
          </p:cNvPr>
          <p:cNvSpPr/>
          <p:nvPr/>
        </p:nvSpPr>
        <p:spPr>
          <a:xfrm>
            <a:off x="542330" y="3576050"/>
            <a:ext cx="7886470" cy="1338943"/>
          </a:xfrm>
          <a:prstGeom prst="roundRect">
            <a:avLst>
              <a:gd name="adj" fmla="val 6807"/>
            </a:avLst>
          </a:prstGeom>
          <a:noFill/>
          <a:ln w="9525">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354"/>
        <p:cNvGrpSpPr/>
        <p:nvPr/>
      </p:nvGrpSpPr>
      <p:grpSpPr>
        <a:xfrm>
          <a:off x="0" y="0"/>
          <a:ext cx="0" cy="0"/>
          <a:chOff x="0" y="0"/>
          <a:chExt cx="0" cy="0"/>
        </a:xfrm>
      </p:grpSpPr>
      <p:sp>
        <p:nvSpPr>
          <p:cNvPr id="17" name="Google Shape;684;p74">
            <a:extLst>
              <a:ext uri="{FF2B5EF4-FFF2-40B4-BE49-F238E27FC236}">
                <a16:creationId xmlns:a16="http://schemas.microsoft.com/office/drawing/2014/main" id="{9264B1B3-7B4F-8E0D-E66B-1C03A9A699EE}"/>
              </a:ext>
            </a:extLst>
          </p:cNvPr>
          <p:cNvSpPr txBox="1"/>
          <p:nvPr/>
        </p:nvSpPr>
        <p:spPr>
          <a:xfrm>
            <a:off x="658086" y="502175"/>
            <a:ext cx="7697100" cy="453046"/>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1600" b="1" dirty="0">
                <a:solidFill>
                  <a:srgbClr val="FFFFFF"/>
                </a:solidFill>
                <a:latin typeface="Albert Sans" panose="020B0604020202020204" charset="0"/>
              </a:rPr>
              <a:t>All files associated with this report can be accessed using the link below.</a:t>
            </a:r>
            <a:endParaRPr sz="1600" b="1" dirty="0">
              <a:solidFill>
                <a:srgbClr val="FFFFFF"/>
              </a:solidFill>
              <a:latin typeface="Albert Sans" panose="020B0604020202020204" charset="0"/>
            </a:endParaRPr>
          </a:p>
        </p:txBody>
      </p:sp>
      <p:pic>
        <p:nvPicPr>
          <p:cNvPr id="18" name="Picture 4">
            <a:extLst>
              <a:ext uri="{FF2B5EF4-FFF2-40B4-BE49-F238E27FC236}">
                <a16:creationId xmlns:a16="http://schemas.microsoft.com/office/drawing/2014/main" id="{A6683610-9F37-1BA5-7A70-53229A2F98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0736" y="1539133"/>
            <a:ext cx="1453487" cy="56137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6">
            <a:extLst>
              <a:ext uri="{FF2B5EF4-FFF2-40B4-BE49-F238E27FC236}">
                <a16:creationId xmlns:a16="http://schemas.microsoft.com/office/drawing/2014/main" id="{EED96E52-EB70-72F0-DC80-CD6FDC419A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1599" y="2456846"/>
            <a:ext cx="1014238" cy="786061"/>
          </a:xfrm>
          <a:prstGeom prst="rect">
            <a:avLst/>
          </a:prstGeom>
          <a:noFill/>
          <a:extLst>
            <a:ext uri="{909E8E84-426E-40DD-AFC4-6F175D3DCCD1}">
              <a14:hiddenFill xmlns:a14="http://schemas.microsoft.com/office/drawing/2010/main">
                <a:solidFill>
                  <a:srgbClr val="FFFFFF"/>
                </a:solidFill>
              </a14:hiddenFill>
            </a:ext>
          </a:extLst>
        </p:spPr>
      </p:pic>
      <p:sp>
        <p:nvSpPr>
          <p:cNvPr id="22" name="Google Shape;266;p43">
            <a:extLst>
              <a:ext uri="{FF2B5EF4-FFF2-40B4-BE49-F238E27FC236}">
                <a16:creationId xmlns:a16="http://schemas.microsoft.com/office/drawing/2014/main" id="{08F7849D-C1BF-279C-DD4F-6BECA3EAB47A}"/>
              </a:ext>
            </a:extLst>
          </p:cNvPr>
          <p:cNvSpPr txBox="1">
            <a:spLocks/>
          </p:cNvSpPr>
          <p:nvPr/>
        </p:nvSpPr>
        <p:spPr>
          <a:xfrm>
            <a:off x="4688387" y="1511964"/>
            <a:ext cx="1647100" cy="4560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buNone/>
            </a:pPr>
            <a:r>
              <a:rPr lang="en-US" b="1" dirty="0">
                <a:solidFill>
                  <a:schemeClr val="bg1"/>
                </a:solidFill>
                <a:hlinkClick r:id="rId5">
                  <a:extLst>
                    <a:ext uri="{A12FA001-AC4F-418D-AE19-62706E023703}">
                      <ahyp:hlinkClr xmlns:ahyp="http://schemas.microsoft.com/office/drawing/2018/hyperlinkcolor" val="tx"/>
                    </a:ext>
                  </a:extLst>
                </a:hlinkClick>
              </a:rPr>
              <a:t>Kaggle Dataset</a:t>
            </a:r>
            <a:endParaRPr lang="en-US" b="1" dirty="0">
              <a:solidFill>
                <a:schemeClr val="bg1"/>
              </a:solidFill>
            </a:endParaRPr>
          </a:p>
        </p:txBody>
      </p:sp>
      <p:sp>
        <p:nvSpPr>
          <p:cNvPr id="23" name="Google Shape;266;p43">
            <a:extLst>
              <a:ext uri="{FF2B5EF4-FFF2-40B4-BE49-F238E27FC236}">
                <a16:creationId xmlns:a16="http://schemas.microsoft.com/office/drawing/2014/main" id="{F9908F47-02A3-A10F-18DB-82FA50D2619A}"/>
              </a:ext>
            </a:extLst>
          </p:cNvPr>
          <p:cNvSpPr txBox="1">
            <a:spLocks/>
          </p:cNvSpPr>
          <p:nvPr/>
        </p:nvSpPr>
        <p:spPr>
          <a:xfrm>
            <a:off x="4688387" y="2510269"/>
            <a:ext cx="1647100" cy="4560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buNone/>
            </a:pPr>
            <a:r>
              <a:rPr lang="en-US" b="1" dirty="0">
                <a:solidFill>
                  <a:schemeClr val="bg1"/>
                </a:solidFill>
                <a:hlinkClick r:id="rId6">
                  <a:extLst>
                    <a:ext uri="{A12FA001-AC4F-418D-AE19-62706E023703}">
                      <ahyp:hlinkClr xmlns:ahyp="http://schemas.microsoft.com/office/drawing/2018/hyperlinkcolor" val="tx"/>
                    </a:ext>
                  </a:extLst>
                </a:hlinkClick>
              </a:rPr>
              <a:t>BPS Dataset</a:t>
            </a:r>
            <a:endParaRPr lang="en-US" b="1" dirty="0">
              <a:solidFill>
                <a:schemeClr val="bg1"/>
              </a:solidFill>
            </a:endParaRPr>
          </a:p>
        </p:txBody>
      </p:sp>
      <p:sp>
        <p:nvSpPr>
          <p:cNvPr id="24" name="Google Shape;266;p43">
            <a:extLst>
              <a:ext uri="{FF2B5EF4-FFF2-40B4-BE49-F238E27FC236}">
                <a16:creationId xmlns:a16="http://schemas.microsoft.com/office/drawing/2014/main" id="{A6864240-0E0B-BA56-67B6-CADED6DB3079}"/>
              </a:ext>
            </a:extLst>
          </p:cNvPr>
          <p:cNvSpPr txBox="1">
            <a:spLocks/>
          </p:cNvSpPr>
          <p:nvPr/>
        </p:nvSpPr>
        <p:spPr>
          <a:xfrm>
            <a:off x="4688387" y="3619729"/>
            <a:ext cx="1647100" cy="4560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buNone/>
            </a:pPr>
            <a:r>
              <a:rPr lang="en-US" b="1" dirty="0">
                <a:solidFill>
                  <a:schemeClr val="bg1"/>
                </a:solidFill>
                <a:hlinkClick r:id="rId7">
                  <a:extLst>
                    <a:ext uri="{A12FA001-AC4F-418D-AE19-62706E023703}">
                      <ahyp:hlinkClr xmlns:ahyp="http://schemas.microsoft.com/office/drawing/2018/hyperlinkcolor" val="tx"/>
                    </a:ext>
                  </a:extLst>
                </a:hlinkClick>
              </a:rPr>
              <a:t>GitHub Files</a:t>
            </a:r>
            <a:endParaRPr lang="en-US" b="1" dirty="0">
              <a:solidFill>
                <a:schemeClr val="bg1"/>
              </a:solidFill>
            </a:endParaRPr>
          </a:p>
        </p:txBody>
      </p:sp>
      <p:pic>
        <p:nvPicPr>
          <p:cNvPr id="1036" name="Picture 12" descr="GitHub Logo and symbol, meaning, history, PNG, brand">
            <a:extLst>
              <a:ext uri="{FF2B5EF4-FFF2-40B4-BE49-F238E27FC236}">
                <a16:creationId xmlns:a16="http://schemas.microsoft.com/office/drawing/2014/main" id="{547BA4B1-6E1E-1545-198C-92A1F92E43D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99158" y="3458105"/>
            <a:ext cx="1989229" cy="11189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3654147"/>
      </p:ext>
    </p:extLst>
  </p:cSld>
  <p:clrMapOvr>
    <a:masterClrMapping/>
  </p:clrMapOvr>
</p:sld>
</file>

<file path=ppt/theme/theme1.xml><?xml version="1.0" encoding="utf-8"?>
<a:theme xmlns:a="http://schemas.openxmlformats.org/drawingml/2006/main" name="Lead Funnel by Slidesgo">
  <a:themeElements>
    <a:clrScheme name="Simple Light">
      <a:dk1>
        <a:srgbClr val="15110E"/>
      </a:dk1>
      <a:lt1>
        <a:srgbClr val="FFFAF6"/>
      </a:lt1>
      <a:dk2>
        <a:srgbClr val="C2E5F5"/>
      </a:dk2>
      <a:lt2>
        <a:srgbClr val="5296B8"/>
      </a:lt2>
      <a:accent1>
        <a:srgbClr val="135669"/>
      </a:accent1>
      <a:accent2>
        <a:srgbClr val="FFFFFF"/>
      </a:accent2>
      <a:accent3>
        <a:srgbClr val="FFFFFF"/>
      </a:accent3>
      <a:accent4>
        <a:srgbClr val="FFFFFF"/>
      </a:accent4>
      <a:accent5>
        <a:srgbClr val="FFFFFF"/>
      </a:accent5>
      <a:accent6>
        <a:srgbClr val="FFFFFF"/>
      </a:accent6>
      <a:hlink>
        <a:srgbClr val="15110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1085</TotalTime>
  <Words>1368</Words>
  <Application>Microsoft Office PowerPoint</Application>
  <PresentationFormat>On-screen Show (16:9)</PresentationFormat>
  <Paragraphs>151</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Courier New</vt:lpstr>
      <vt:lpstr>Arial</vt:lpstr>
      <vt:lpstr>Albert Sans</vt:lpstr>
      <vt:lpstr>Alexandria Medium</vt:lpstr>
      <vt:lpstr>Wingdings</vt:lpstr>
      <vt:lpstr>Lead Funnel by Slidesgo</vt:lpstr>
      <vt:lpstr>Indonesia Healthcare Infrastructure Analysis</vt:lpstr>
      <vt:lpstr>PowerPoint Presentation</vt:lpstr>
      <vt:lpstr>PowerPoint Presentation</vt:lpstr>
      <vt:lpstr>01</vt:lpstr>
      <vt:lpstr>02</vt:lpstr>
      <vt:lpstr>04</vt:lpstr>
      <vt:lpstr>01</vt:lpstr>
      <vt:lpstr>01</vt:lpstr>
      <vt:lpstr>02</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Rangga Hadiwibowo</dc:creator>
  <cp:lastModifiedBy>Rangga</cp:lastModifiedBy>
  <cp:revision>127</cp:revision>
  <cp:lastPrinted>2026-07-27T02:23:10Z</cp:lastPrinted>
  <dcterms:modified xsi:type="dcterms:W3CDTF">2026-07-27T05:23:10Z</dcterms:modified>
</cp:coreProperties>
</file>